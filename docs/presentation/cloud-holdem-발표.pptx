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AWS ECS 기반 실시간 멀티플레이어 텍사스 홀덤, "Cloud Hold'em" 프로젝트 발표를 시작하겠습니다.
이 프로젝트는 단순히 게임을 만드는 것이 아니라, "실시간 게임 서버를 AWS 위에서 확장 가능하고 안정적으로 운영하려면 어떻게 설계해야 하는가"를 목표로 진행했습니다.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어떤 서비스인지 간단히 소개하겠습니다.
4인용 텍사스 홀덤 웹 게임이고, 회원가입 없이 닉네임만 입력하면 바로 방을 만들고 친구들과 플레이할 수 있습니다.
기술 스택은 백엔드 Node.js의 ws 라이브러리, 프론트엔드 React, 상태 저장소로 Redis를 사용했습니다.
오늘 발표의 초점은 게임 로직보다는 오른쪽 화면의 이 게임을 "AWS 위에서 어떻게 운영하는가" — 즉 컨테이너 오케스트레이션, 상태 관리, 오토스케일링입니다.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게임 서버는 일반적인 웹 서버와 요구사항이 다릅니다.
첫째, HTTP 요청-응답이 아니라 WebSocket으로 연결을 계속 유지해야 합니다. 상대가 베팅하면 내 화면이 즉시 갱신되어야 하니까요.
둘째, 동시 접속이 늘어나면 서버를 수평으로 늘릴 수 있어야 하고,
셋째, 서버 한 대가 죽어도 진행 중인 게임이 사라지면 안 됩니다.
그래서 내린 핵심 설계 결정이 이것입니다: 서버는 완전한 Stateless로 만들고, 게임 상태는 전부 ElastiCache Redis에 둔다.
이 결정 하나로 sticky session이 필요 없어지고, 어느 컨테이너가 어느 플레이어를 처리해도 상관없는 구조가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아키텍처입니다. 왼쪽 플레이어부터 흐름을 따라가면 —
브라우저는 먼저 S3 버킷에서 React 정적 파일을 로드합니다. 별도 웹서버 없이 S3 정적 호스팅만으로 충분합니다.
게임 통신은 WebSocket으로 ALB를 거쳐 ECS 클러스터의 태스크로 연결됩니다. 가운데 보라색 영역이 ECS 클러스터인데, EC2 Auto Scaling Group 위에서 Node.js 컨테이너가 태스크로 돌고 있습니다.
모든 태스크는 오른쪽의 ElastiCache Redis 하나를 바라봅니다. 게임 상태를 읽고 쓰고, Pub/Sub으로 이벤트를 주고받습니다.
완료된 게임 기록은 S3 히스토리 버킷에 저장됩니다.
하단의 보안 그룹 체인은 보안 슬라이드에서 다시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컨테이너 오케스트레이션 도구로 처음에는 쿠버네티스, EKS를 계획했습니다.
그런데 EKS는 워커 노드와 별개로 컨트롤 플레인 비용만 월 73달러가 고정으로 나가고, 매니페스트·Helm 등 학습 곡선도 가파릅니다. 게임 서버 컨테이너 2~4개를 돌리는 프로젝트에는 과한 복잡도라고 판단했습니다.
그래서 ECS로 전환했습니다. 클러스터 관리 비용이 없고, ALB·오토스케일링·CloudWatch와의 통합이 네이티브로 제공됩니다. Fargate가 아닌 EC2 타입을 선택해 비용을 더 줄이고 ASG를 직접 제어하는 경험도 얻었습니다.
배운 점은 — 기술 선택은 유행이 아니라 규모에 맞는 복잡도로 해야 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아키텍처의 심장은 상태 관리입니다.
카드 덱, 팟, 현재 턴, 심지어 턴 타이머의 마감 시각까지 게임 상태 전부가 Redis에 있습니다. 서버 메모리에는 아무것도 없습니다.
같은 게임의 플레이어 4명이 서로 다른 태스크에 연결될 수 있는데, 이때 Redis Pub/Sub으로 게임 이벤트를 모든 태스크에 전달해서 각자 자기 클라이언트에게 브로드캐스트합니다.
동시성 문제는 Lua 스크립트로 해결했습니다. 상태 조회, 턴 검증, 업데이트를 Redis 안에서 원자적으로 실행해서 두 액션이 동시에 들어와도 안전합니다.
이게 말로만이 아니라는 걸 증명하기 위해, 실제로 4개 클라이언트를 ALB로 분산 접속시켜 풀 게임을 완주시켰습니다.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배포 파이프라인입니다.
node:20-alpine 기반 56메가바이트 이미지를 ECR에 푸시하고, Task Definition을 등록한 뒤 ECS 서비스가 롤링 배포합니다.
awsvpc 네트워크 모드라서 태스크마다 자체 IP와 보안 그룹을 갖습니다.
롤링 배포는 minimumHealthy 100%로 설정해서, 새 태스크가 헬스체크를 통과한 후에만 구버전을 내립니다. 실제로 발표 준비 중 버그 수정을 무중단으로 배포했습니다.
재배포는 이미지 푸시 후 명령 한 줄이면 끝납니다.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 설정에서 가장 중요한 건 idle timeout입니다.
기본값 60초를 그대로 두면 플레이어가 1분만 가만히 있어도 WebSocket이 끊깁니다. 3600초로 늘리는 이 설정 한 줄이 WebSocket 서비스의 핵심입니다.
타깃 타입은 ip로 설정해 awsvpc 태스크의 ENI로 직접 라우팅하고, 30초마다 /health 경로로 헬스체크를 합니다.
NLB가 아닌 ALB를 쓴 이유는 — L7 헬스체크와 WebSocket 업그레이드 처리, 그리고 이 규모에서의 운영 단순함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오토스케일링은 2단 구조입니다.
1단은 서비스 레벨 — 태스크의 평균 CPU가 70%를 넘으면 ECS가 태스크 수를 2개에서 최대 8개까지 늘립니다.
2단은 인프라 레벨 — 늘어난 태스크가 들어갈 EC2 자리가 부족하면, Capacity Provider가 ASG를 조정해 EC2 자체를 2대에서 4대까지 증설합니다.
오른쪽 흐름처럼 트래픽 증가 → 태스크 증설 → 자리 부족 → EC2 증설이 전부 자동입니다.
반대로 한가해지면 역순으로 줄어들고, 실습 중에는 비용 절약을 위해 desired를 0으로 내려두기도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보안은 최소 권한 원칙으로 설계했습니다.
보안 그룹을 IP가 아닌 "보안 그룹 참조"로 체인을 만들었습니다. ALB는 인터넷에서 80만, EC2는 ALB에서 오는 3001만, Redis는 EC2에서 오는 6379만 받습니다. 즉 Redis는 인터넷에서 아예 도달이 불가능합니다.
IAM은 역할을 3종으로 분리했습니다. 컨테이너가 쓰는 Task Role은 S3 쓰기만, Execution Role은 ECR pull과 로그만, Instance Role은 ECS 등록만 가능합니다.
작업용 IAM 사용자 권한도 필요한 액션만 점진적으로 추가했는데, 예를 들어 ALB 생성이 ec2:DescribeAccountAttributes라는 숨은 권한을 요구해서 실패 메시지를 분석해 추가한 경험도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"되는 것 같다"가 아니라 증명을 목표로 검증했습니다.
게임 엔진과 Redis 로직에 단위·통합 테스트 44개를 TDD로 작성했고, Playwright로 실제 브라우저 4개를 자동 조작해 로컬 풀 게임을 완주시켰습니다.
가장 의미 있는 건 프로덕션 E2E입니다 — ALB를 거쳐 4개 클라이언트가 서로 다른 태스크에 분산된 상태로 쇼다운까지 완주해서, 분산 환경 설계가 실제로 동작함을 확인했습니다.
TDD 과정에서 베팅 라운드가 끝나지 않는 버그, 턴 타이머가 영원히 발동하지 않는 버그 같은 치명적 결함들을 배포 전에 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게임 화면입니다.
왼쪽이 로비 — 닉네임 입력 후 방을 만들거나 열린 방에 입장합니다. 4명이 모이면 5초 카운트다운 후 자동 시작됩니다.
오른쪽이 게임 테이블 — 내 카드만 보이고 상대 카드는 가려집니다. 블라인드가 자동 차감되고, 자기 턴에만 액션 버튼과 20초 타이머가 표시됩니다.
쇼다운이 끝나면 칩이 정산되고 다음 핸드가 자동으로 시작됩니다.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라이브로 보여드리겠습니다. (미리 띄워둔 탭 4개로 전환)
순서: ① 탭 4개 접속 ② 첫 탭에서 방 만들기 ③ 나머지 입장, 카운트다운 확인 ④ 콜/체크로 빠르게 한 바퀴 돌려 플랍 공개 ⑤ 시간 여유가 있으면 탭 하나를 방치해 20초 auto-fold 시연 ⑥ 쇼다운과 칩 정산.
* 만약 네트워크 문제가 생기면 당황하지 말고 "준비된 화면으로 대체하겠습니다" 하고 앞의 스크린샷 슬라이드로 돌아갈 것.
* 발표 전 체크: ASG 2대 켜두기, 헬스체크 green, S3 배포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비용입니다.
EC2 t3.small 2대, ElastiCache, ALB를 합쳐 월 약 78달러 수준입니다. EKS로 갔다면 여기에 컨트롤 플레인 73달러가 추가됐을 겁니다.
이번 프로젝트에서 배운 것은 — Stateless 설계와 외부 상태 저장소가 수평 확장의 열쇠라는 것, 관리형 서비스 통합이 운영 부담을 크게 줄여준다는 것, 최소 권한은 불편하지만 그 실패 메시지들이 곧 산 문서가 된다는 것, 그리고 안 쓸 때 끄는 습관이 클라우드 비용 관리의 시작이라는 점입니다.
이상으로 발표를 마치겠습니다.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1828800"/>
            <a:ext cx="10972800" cy="365760"/>
          </a:xfrm>
          <a:prstGeom prst="rect">
            <a:avLst/>
          </a:prstGeom>
          <a:noFill/>
          <a:ln/>
        </p:spPr>
        <p:txBody>
          <a:bodyPr wrap="square" rtlCol="0" anchor="ctr"/>
          <a:lstStyle/>
          <a:p>
            <a:pPr algn="ctr" indent="0" marL="0">
              <a:buNone/>
            </a:pPr>
            <a:r>
              <a:rPr lang="en-US" sz="1400" spc="500" kern="0" dirty="0">
                <a:solidFill>
                  <a:srgbClr val="22D3EE"/>
                </a:solidFill>
                <a:latin typeface="Noto Sans KR" pitchFamily="34" charset="0"/>
                <a:ea typeface="Noto Sans KR" pitchFamily="34" charset="-122"/>
                <a:cs typeface="Noto Sans KR" pitchFamily="34" charset="-120"/>
              </a:rPr>
              <a:t>CLOUD COMPUTING PROJECT</a:t>
            </a:r>
            <a:endParaRPr lang="en-US" sz="1400" dirty="0"/>
          </a:p>
        </p:txBody>
      </p:sp>
      <p:sp>
        <p:nvSpPr>
          <p:cNvPr id="4" name="Text 1"/>
          <p:cNvSpPr/>
          <p:nvPr/>
        </p:nvSpPr>
        <p:spPr>
          <a:xfrm>
            <a:off x="640080" y="2286000"/>
            <a:ext cx="10972800" cy="1188720"/>
          </a:xfrm>
          <a:prstGeom prst="rect">
            <a:avLst/>
          </a:prstGeom>
          <a:noFill/>
          <a:ln/>
        </p:spPr>
        <p:txBody>
          <a:bodyPr wrap="square" rtlCol="0" anchor="ctr"/>
          <a:lstStyle/>
          <a:p>
            <a:pPr algn="ctr" indent="0" marL="0">
              <a:buNone/>
            </a:pPr>
            <a:r>
              <a:rPr lang="en-US" sz="6000" b="1" spc="600" kern="0" dirty="0">
                <a:solidFill>
                  <a:srgbClr val="A78BFA"/>
                </a:solidFill>
                <a:latin typeface="Arial Black" pitchFamily="34" charset="0"/>
                <a:ea typeface="Arial Black" pitchFamily="34" charset="-122"/>
                <a:cs typeface="Arial Black" pitchFamily="34" charset="-120"/>
              </a:rPr>
              <a:t>CLOUD HOLD'EM</a:t>
            </a:r>
            <a:endParaRPr lang="en-US" sz="6000" dirty="0"/>
          </a:p>
        </p:txBody>
      </p:sp>
      <p:sp>
        <p:nvSpPr>
          <p:cNvPr id="5" name="Text 2"/>
          <p:cNvSpPr/>
          <p:nvPr/>
        </p:nvSpPr>
        <p:spPr>
          <a:xfrm>
            <a:off x="640080" y="3566160"/>
            <a:ext cx="10972800" cy="457200"/>
          </a:xfrm>
          <a:prstGeom prst="rect">
            <a:avLst/>
          </a:prstGeom>
          <a:noFill/>
          <a:ln/>
        </p:spPr>
        <p:txBody>
          <a:bodyPr wrap="square" rtlCol="0" anchor="ctr"/>
          <a:lstStyle/>
          <a:p>
            <a:pPr algn="ctr" indent="0" marL="0">
              <a:buNone/>
            </a:pPr>
            <a:r>
              <a:rPr lang="en-US" sz="2000" dirty="0">
                <a:solidFill>
                  <a:srgbClr val="8B8FB8"/>
                </a:solidFill>
                <a:latin typeface="Noto Sans KR" pitchFamily="34" charset="0"/>
                <a:ea typeface="Noto Sans KR" pitchFamily="34" charset="-122"/>
                <a:cs typeface="Noto Sans KR" pitchFamily="34" charset="-120"/>
              </a:rPr>
              <a:t>AWS ECS 기반 실시간 멀티플레이어 텍사스 홀덤</a:t>
            </a:r>
            <a:endParaRPr lang="en-US" sz="2000" dirty="0"/>
          </a:p>
        </p:txBody>
      </p:sp>
      <p:sp>
        <p:nvSpPr>
          <p:cNvPr id="6" name="Text 3"/>
          <p:cNvSpPr/>
          <p:nvPr/>
        </p:nvSpPr>
        <p:spPr>
          <a:xfrm>
            <a:off x="640080" y="5029200"/>
            <a:ext cx="10972800" cy="365760"/>
          </a:xfrm>
          <a:prstGeom prst="rect">
            <a:avLst/>
          </a:prstGeom>
          <a:noFill/>
          <a:ln/>
        </p:spPr>
        <p:txBody>
          <a:bodyPr wrap="square" rtlCol="0" anchor="ctr"/>
          <a:lstStyle/>
          <a:p>
            <a:pPr algn="ctr" indent="0" marL="0">
              <a:buNone/>
            </a:pPr>
            <a:r>
              <a:rPr lang="en-US" sz="1400" dirty="0">
                <a:solidFill>
                  <a:srgbClr val="8B8FB8"/>
                </a:solidFill>
                <a:latin typeface="Noto Sans KR" pitchFamily="34" charset="0"/>
                <a:ea typeface="Noto Sans KR" pitchFamily="34" charset="-122"/>
                <a:cs typeface="Noto Sans KR" pitchFamily="34" charset="-120"/>
              </a:rPr>
              <a:t>발표자: ___________   ·   2026.06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01 — OVERVIEW</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프로젝트 개요</a:t>
            </a:r>
            <a:endParaRPr lang="en-US" sz="3000" dirty="0"/>
          </a:p>
        </p:txBody>
      </p:sp>
      <p:sp>
        <p:nvSpPr>
          <p:cNvPr id="5" name="Text 2"/>
          <p:cNvSpPr/>
          <p:nvPr/>
        </p:nvSpPr>
        <p:spPr>
          <a:xfrm>
            <a:off x="640080" y="1645920"/>
            <a:ext cx="5760720" cy="4572000"/>
          </a:xfrm>
          <a:prstGeom prst="rect">
            <a:avLst/>
          </a:prstGeom>
          <a:noFill/>
          <a:ln/>
        </p:spPr>
        <p:txBody>
          <a:bodyPr wrap="square" rtlCol="0" anchor="t"/>
          <a:lstStyle/>
          <a:p>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4인 텍사스 홀덤 웹 게임</a:t>
            </a:r>
            <a:pPr indent="0" marL="0">
              <a:lnSpc>
                <a:spcPct val="145000"/>
              </a:lnSpc>
              <a:buNone/>
            </a:pPr>
            <a:r>
              <a:rPr lang="en-US" sz="1350" dirty="0">
                <a:solidFill>
                  <a:srgbClr val="8B8FB8"/>
                </a:solidFill>
                <a:latin typeface="Noto Sans KR" pitchFamily="34" charset="0"/>
                <a:ea typeface="Noto Sans KR" pitchFamily="34" charset="-122"/>
                <a:cs typeface="Noto Sans KR" pitchFamily="34" charset="-120"/>
              </a:rPr>
              <a:t>  — 회원가입 없이 닉네임만으로 즉시 플레이</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실시간 멀티플레이어</a:t>
            </a:r>
            <a:pPr indent="0" marL="0">
              <a:lnSpc>
                <a:spcPct val="145000"/>
              </a:lnSpc>
              <a:buNone/>
            </a:pPr>
            <a:r>
              <a:rPr lang="en-US" sz="1350" dirty="0">
                <a:solidFill>
                  <a:srgbClr val="8B8FB8"/>
                </a:solidFill>
                <a:latin typeface="Noto Sans KR" pitchFamily="34" charset="0"/>
                <a:ea typeface="Noto Sans KR" pitchFamily="34" charset="-122"/>
                <a:cs typeface="Noto Sans KR" pitchFamily="34" charset="-120"/>
              </a:rPr>
              <a:t>  — WebSocket 양방향 통신, 20초 턴 타이머</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다중 테이블 동시 운영</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스택: Node.js(ws) + React + Redis</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endParaRPr lang="en-US" sz="1300" dirty="0"/>
          </a:p>
        </p:txBody>
      </p:sp>
      <p:sp>
        <p:nvSpPr>
          <p:cNvPr id="6" name="Shape 3"/>
          <p:cNvSpPr/>
          <p:nvPr/>
        </p:nvSpPr>
        <p:spPr>
          <a:xfrm>
            <a:off x="640080" y="4206240"/>
            <a:ext cx="5486400" cy="1828800"/>
          </a:xfrm>
          <a:prstGeom prst="roundRect">
            <a:avLst>
              <a:gd name="adj" fmla="val 6000"/>
            </a:avLst>
          </a:prstGeom>
          <a:solidFill>
            <a:srgbClr val="111120"/>
          </a:solidFill>
          <a:ln w="12700">
            <a:solidFill>
              <a:srgbClr val="A78BFA"/>
            </a:solidFill>
            <a:prstDash val="solid"/>
          </a:ln>
        </p:spPr>
      </p:sp>
      <p:sp>
        <p:nvSpPr>
          <p:cNvPr id="7" name="Text 4"/>
          <p:cNvSpPr/>
          <p:nvPr/>
        </p:nvSpPr>
        <p:spPr>
          <a:xfrm>
            <a:off x="868680" y="4343400"/>
            <a:ext cx="5029200" cy="365760"/>
          </a:xfrm>
          <a:prstGeom prst="rect">
            <a:avLst/>
          </a:prstGeom>
          <a:noFill/>
          <a:ln/>
        </p:spPr>
        <p:txBody>
          <a:bodyPr wrap="square" rtlCol="0" anchor="ctr"/>
          <a:lstStyle/>
          <a:p>
            <a:pPr indent="0" marL="0">
              <a:buNone/>
            </a:pPr>
            <a:r>
              <a:rPr lang="en-US" sz="1300" b="1" spc="200" kern="0" dirty="0">
                <a:solidFill>
                  <a:srgbClr val="A78BFA"/>
                </a:solidFill>
                <a:latin typeface="Noto Sans KR" pitchFamily="34" charset="0"/>
                <a:ea typeface="Noto Sans KR" pitchFamily="34" charset="-122"/>
                <a:cs typeface="Noto Sans KR" pitchFamily="34" charset="-120"/>
              </a:rPr>
              <a:t>이 발표의 초점</a:t>
            </a:r>
            <a:endParaRPr lang="en-US" sz="1300" dirty="0"/>
          </a:p>
        </p:txBody>
      </p:sp>
      <p:sp>
        <p:nvSpPr>
          <p:cNvPr id="8" name="Text 5"/>
          <p:cNvSpPr/>
          <p:nvPr/>
        </p:nvSpPr>
        <p:spPr>
          <a:xfrm>
            <a:off x="868680" y="4709160"/>
            <a:ext cx="5029200" cy="114300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게임을 AWS 위에서 어떻게 확장 가능하고 안정적으로 운영하는가 — 컨테이너 오케스트레이션, 상태 관리, 오토스케일링</a:t>
            </a:r>
            <a:endParaRPr lang="en-US" sz="1450" dirty="0"/>
          </a:p>
        </p:txBody>
      </p:sp>
      <p:pic>
        <p:nvPicPr>
          <p:cNvPr id="9" name="Image 0" descr="/home/dakori/github/cloud_holdem/docs/presentation/assets/lobby.png">    </p:cNvPr>
          <p:cNvPicPr>
            <a:picLocks noChangeAspect="1"/>
          </p:cNvPicPr>
          <p:nvPr/>
        </p:nvPicPr>
        <p:blipFill>
          <a:blip r:embed="rId1"/>
          <a:stretch>
            <a:fillRect/>
          </a:stretch>
        </p:blipFill>
        <p:spPr>
          <a:xfrm>
            <a:off x="6675120" y="1463040"/>
            <a:ext cx="4937760" cy="42464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02 — REQUIREMENTS</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게임 서버의 인프라 요구사항</a:t>
            </a:r>
            <a:endParaRPr lang="en-US" sz="3000" dirty="0"/>
          </a:p>
        </p:txBody>
      </p:sp>
      <p:sp>
        <p:nvSpPr>
          <p:cNvPr id="5" name="Text 2"/>
          <p:cNvSpPr/>
          <p:nvPr/>
        </p:nvSpPr>
        <p:spPr>
          <a:xfrm>
            <a:off x="640080" y="1645920"/>
            <a:ext cx="10972800" cy="4572000"/>
          </a:xfrm>
          <a:prstGeom prst="rect">
            <a:avLst/>
          </a:prstGeom>
          <a:noFill/>
          <a:ln/>
        </p:spPr>
        <p:txBody>
          <a:bodyPr wrap="square" rtlCol="0" anchor="t"/>
          <a:lstStyle/>
          <a:p>
            <a:pPr indent="0" marL="0">
              <a:lnSpc>
                <a:spcPct val="145000"/>
              </a:lnSpc>
              <a:buNone/>
            </a:pPr>
            <a:r>
              <a:rPr lang="en-US" sz="15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800" b="1" dirty="0">
                <a:solidFill>
                  <a:srgbClr val="E7E9FF"/>
                </a:solidFill>
                <a:latin typeface="Noto Sans KR" pitchFamily="34" charset="0"/>
                <a:ea typeface="Noto Sans KR" pitchFamily="34" charset="-122"/>
                <a:cs typeface="Noto Sans KR" pitchFamily="34" charset="-120"/>
              </a:rPr>
              <a:t>실시간 양방향 통신</a:t>
            </a:r>
            <a:pPr indent="0" marL="0">
              <a:lnSpc>
                <a:spcPct val="145000"/>
              </a:lnSpc>
              <a:buNone/>
            </a:pPr>
            <a:r>
              <a:rPr lang="en-US" sz="1550" dirty="0">
                <a:solidFill>
                  <a:srgbClr val="8B8FB8"/>
                </a:solidFill>
                <a:latin typeface="Noto Sans KR" pitchFamily="34" charset="0"/>
                <a:ea typeface="Noto Sans KR" pitchFamily="34" charset="-122"/>
                <a:cs typeface="Noto Sans KR" pitchFamily="34" charset="-120"/>
              </a:rPr>
              <a:t>  — HTTP 폴링이 아닌 WebSocket, 연결이 오래 유지되어야 함</a:t>
            </a:r>
            <a:pPr indent="0" marL="0">
              <a:lnSpc>
                <a:spcPct val="145000"/>
              </a:lnSpc>
              <a:buNone/>
            </a:pPr>
            <a:r>
              <a:rPr lang="en-US" sz="15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5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800" b="1" dirty="0">
                <a:solidFill>
                  <a:srgbClr val="E7E9FF"/>
                </a:solidFill>
                <a:latin typeface="Noto Sans KR" pitchFamily="34" charset="0"/>
                <a:ea typeface="Noto Sans KR" pitchFamily="34" charset="-122"/>
                <a:cs typeface="Noto Sans KR" pitchFamily="34" charset="-120"/>
              </a:rPr>
              <a:t>수평 확장</a:t>
            </a:r>
            <a:pPr indent="0" marL="0">
              <a:lnSpc>
                <a:spcPct val="145000"/>
              </a:lnSpc>
              <a:buNone/>
            </a:pPr>
            <a:r>
              <a:rPr lang="en-US" sz="1550" dirty="0">
                <a:solidFill>
                  <a:srgbClr val="8B8FB8"/>
                </a:solidFill>
                <a:latin typeface="Noto Sans KR" pitchFamily="34" charset="0"/>
                <a:ea typeface="Noto Sans KR" pitchFamily="34" charset="-122"/>
                <a:cs typeface="Noto Sans KR" pitchFamily="34" charset="-120"/>
              </a:rPr>
              <a:t>  — 동시 접속이 늘면 서버를 늘려야 함 (Auto Scaling)</a:t>
            </a:r>
            <a:pPr indent="0" marL="0">
              <a:lnSpc>
                <a:spcPct val="145000"/>
              </a:lnSpc>
              <a:buNone/>
            </a:pPr>
            <a:r>
              <a:rPr lang="en-US" sz="15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5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800" b="1" dirty="0">
                <a:solidFill>
                  <a:srgbClr val="E7E9FF"/>
                </a:solidFill>
                <a:latin typeface="Noto Sans KR" pitchFamily="34" charset="0"/>
                <a:ea typeface="Noto Sans KR" pitchFamily="34" charset="-122"/>
                <a:cs typeface="Noto Sans KR" pitchFamily="34" charset="-120"/>
              </a:rPr>
              <a:t>서버 장애 ≠ 게임 증발</a:t>
            </a:r>
            <a:pPr indent="0" marL="0">
              <a:lnSpc>
                <a:spcPct val="145000"/>
              </a:lnSpc>
              <a:buNone/>
            </a:pPr>
            <a:r>
              <a:rPr lang="en-US" sz="1550" dirty="0">
                <a:solidFill>
                  <a:srgbClr val="8B8FB8"/>
                </a:solidFill>
                <a:latin typeface="Noto Sans KR" pitchFamily="34" charset="0"/>
                <a:ea typeface="Noto Sans KR" pitchFamily="34" charset="-122"/>
                <a:cs typeface="Noto Sans KR" pitchFamily="34" charset="-120"/>
              </a:rPr>
              <a:t>  — 어떤 서버가 죽어도 게임 상태는 보존</a:t>
            </a:r>
            <a:pPr indent="0" marL="0">
              <a:lnSpc>
                <a:spcPct val="145000"/>
              </a:lnSpc>
              <a:buNone/>
            </a:pPr>
            <a:r>
              <a:rPr lang="en-US" sz="15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5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800" b="1" dirty="0">
                <a:solidFill>
                  <a:srgbClr val="E7E9FF"/>
                </a:solidFill>
                <a:latin typeface="Noto Sans KR" pitchFamily="34" charset="0"/>
                <a:ea typeface="Noto Sans KR" pitchFamily="34" charset="-122"/>
                <a:cs typeface="Noto Sans KR" pitchFamily="34" charset="-120"/>
              </a:rPr>
              <a:t>분산 환경의 일관성</a:t>
            </a:r>
            <a:pPr indent="0" marL="0">
              <a:lnSpc>
                <a:spcPct val="145000"/>
              </a:lnSpc>
              <a:buNone/>
            </a:pPr>
            <a:r>
              <a:rPr lang="en-US" sz="1550" dirty="0">
                <a:solidFill>
                  <a:srgbClr val="8B8FB8"/>
                </a:solidFill>
                <a:latin typeface="Noto Sans KR" pitchFamily="34" charset="0"/>
                <a:ea typeface="Noto Sans KR" pitchFamily="34" charset="-122"/>
                <a:cs typeface="Noto Sans KR" pitchFamily="34" charset="-120"/>
              </a:rPr>
              <a:t>  — 같은 게임의 4명이 다른 서버에 붙어도 동작</a:t>
            </a:r>
            <a:pPr indent="0" marL="0">
              <a:lnSpc>
                <a:spcPct val="145000"/>
              </a:lnSpc>
              <a:buNone/>
            </a:pPr>
            <a:r>
              <a:rPr lang="en-US" sz="1500" dirty="0">
                <a:solidFill>
                  <a:srgbClr val="000000"/>
                </a:solidFill>
                <a:latin typeface="Noto Sans KR" pitchFamily="34" charset="0"/>
                <a:ea typeface="Noto Sans KR" pitchFamily="34" charset="-122"/>
                <a:cs typeface="Noto Sans KR" pitchFamily="34" charset="-120"/>
              </a:rPr>
              <a:t>
</a:t>
            </a:r>
            <a:endParaRPr lang="en-US" sz="1500" dirty="0"/>
          </a:p>
        </p:txBody>
      </p:sp>
      <p:sp>
        <p:nvSpPr>
          <p:cNvPr id="6" name="Shape 3"/>
          <p:cNvSpPr/>
          <p:nvPr/>
        </p:nvSpPr>
        <p:spPr>
          <a:xfrm>
            <a:off x="640080" y="4572000"/>
            <a:ext cx="10972800" cy="1645920"/>
          </a:xfrm>
          <a:prstGeom prst="roundRect">
            <a:avLst>
              <a:gd name="adj" fmla="val 6667"/>
            </a:avLst>
          </a:prstGeom>
          <a:solidFill>
            <a:srgbClr val="111120"/>
          </a:solidFill>
          <a:ln w="12700">
            <a:solidFill>
              <a:srgbClr val="22D3EE"/>
            </a:solidFill>
            <a:prstDash val="solid"/>
          </a:ln>
        </p:spPr>
      </p:sp>
      <p:sp>
        <p:nvSpPr>
          <p:cNvPr id="7" name="Text 4"/>
          <p:cNvSpPr/>
          <p:nvPr/>
        </p:nvSpPr>
        <p:spPr>
          <a:xfrm>
            <a:off x="868680" y="4709160"/>
            <a:ext cx="10515600" cy="365760"/>
          </a:xfrm>
          <a:prstGeom prst="rect">
            <a:avLst/>
          </a:prstGeom>
          <a:noFill/>
          <a:ln/>
        </p:spPr>
        <p:txBody>
          <a:bodyPr wrap="square" rtlCol="0" anchor="ctr"/>
          <a:lstStyle/>
          <a:p>
            <a:pPr indent="0" marL="0">
              <a:buNone/>
            </a:pPr>
            <a:r>
              <a:rPr lang="en-US" sz="1300" b="1" spc="200" kern="0" dirty="0">
                <a:solidFill>
                  <a:srgbClr val="22D3EE"/>
                </a:solidFill>
                <a:latin typeface="Noto Sans KR" pitchFamily="34" charset="0"/>
                <a:ea typeface="Noto Sans KR" pitchFamily="34" charset="-122"/>
                <a:cs typeface="Noto Sans KR" pitchFamily="34" charset="-120"/>
              </a:rPr>
              <a:t>핵심 설계 결정</a:t>
            </a:r>
            <a:endParaRPr lang="en-US" sz="1300" dirty="0"/>
          </a:p>
        </p:txBody>
      </p:sp>
      <p:sp>
        <p:nvSpPr>
          <p:cNvPr id="8" name="Text 5"/>
          <p:cNvSpPr/>
          <p:nvPr/>
        </p:nvSpPr>
        <p:spPr>
          <a:xfrm>
            <a:off x="868680" y="5074920"/>
            <a:ext cx="10515600" cy="96012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서버를 완전한 Stateless로 만들고, 게임 상태는 전부 ElastiCache Redis에 둔다</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sticky session 불필요, 어느 컨테이너든 어느 플레이어든 처리 가능</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03 — ARCHITECTURE</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전체 아키텍처</a:t>
            </a:r>
            <a:endParaRPr lang="en-US" sz="3000" dirty="0"/>
          </a:p>
        </p:txBody>
      </p:sp>
      <p:pic>
        <p:nvPicPr>
          <p:cNvPr id="5" name="Image 0" descr="/home/dakori/github/cloud_holdem/docs/presentation/assets/architecture.png">    </p:cNvPr>
          <p:cNvPicPr>
            <a:picLocks noChangeAspect="1"/>
          </p:cNvPicPr>
          <p:nvPr/>
        </p:nvPicPr>
        <p:blipFill>
          <a:blip r:embed="rId1"/>
          <a:stretch>
            <a:fillRect/>
          </a:stretch>
        </p:blipFill>
        <p:spPr>
          <a:xfrm>
            <a:off x="978408" y="1417320"/>
            <a:ext cx="10241280" cy="46817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04 — WHY ECS</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왜 ECS(EC2)인가 — EKS에서 전환한 이유</a:t>
            </a:r>
            <a:endParaRPr lang="en-US" sz="3000" dirty="0"/>
          </a:p>
        </p:txBody>
      </p:sp>
      <p:sp>
        <p:nvSpPr>
          <p:cNvPr id="5" name="Shape 2"/>
          <p:cNvSpPr/>
          <p:nvPr/>
        </p:nvSpPr>
        <p:spPr>
          <a:xfrm>
            <a:off x="640080" y="1645920"/>
            <a:ext cx="5394960" cy="3291840"/>
          </a:xfrm>
          <a:prstGeom prst="roundRect">
            <a:avLst>
              <a:gd name="adj" fmla="val 3333"/>
            </a:avLst>
          </a:prstGeom>
          <a:solidFill>
            <a:srgbClr val="111120"/>
          </a:solidFill>
          <a:ln w="12700">
            <a:solidFill>
              <a:srgbClr val="F472B6"/>
            </a:solidFill>
            <a:prstDash val="solid"/>
          </a:ln>
        </p:spPr>
      </p:sp>
      <p:sp>
        <p:nvSpPr>
          <p:cNvPr id="6" name="Text 3"/>
          <p:cNvSpPr/>
          <p:nvPr/>
        </p:nvSpPr>
        <p:spPr>
          <a:xfrm>
            <a:off x="868680" y="1783080"/>
            <a:ext cx="4937760" cy="365760"/>
          </a:xfrm>
          <a:prstGeom prst="rect">
            <a:avLst/>
          </a:prstGeom>
          <a:noFill/>
          <a:ln/>
        </p:spPr>
        <p:txBody>
          <a:bodyPr wrap="square" rtlCol="0" anchor="ctr"/>
          <a:lstStyle/>
          <a:p>
            <a:pPr indent="0" marL="0">
              <a:buNone/>
            </a:pPr>
            <a:r>
              <a:rPr lang="en-US" sz="1300" b="1" spc="200" kern="0" dirty="0">
                <a:solidFill>
                  <a:srgbClr val="F472B6"/>
                </a:solidFill>
                <a:latin typeface="Noto Sans KR" pitchFamily="34" charset="0"/>
                <a:ea typeface="Noto Sans KR" pitchFamily="34" charset="-122"/>
                <a:cs typeface="Noto Sans KR" pitchFamily="34" charset="-120"/>
              </a:rPr>
              <a:t>처음 계획: EKS (Kubernetes)</a:t>
            </a:r>
            <a:endParaRPr lang="en-US" sz="1300" dirty="0"/>
          </a:p>
        </p:txBody>
      </p:sp>
      <p:sp>
        <p:nvSpPr>
          <p:cNvPr id="7" name="Text 4"/>
          <p:cNvSpPr/>
          <p:nvPr/>
        </p:nvSpPr>
        <p:spPr>
          <a:xfrm>
            <a:off x="868680" y="2148840"/>
            <a:ext cx="4937760" cy="260604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컨트롤 플레인 비용 $73/월 고정 (워커 노드와 별도)</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학습 곡선: 매니페스트, Helm, IRSA…</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게임 서버 2~4개에는 과한 복잡도</a:t>
            </a:r>
            <a:endParaRPr lang="en-US" sz="1450" dirty="0"/>
          </a:p>
        </p:txBody>
      </p:sp>
      <p:sp>
        <p:nvSpPr>
          <p:cNvPr id="8" name="Shape 5"/>
          <p:cNvSpPr/>
          <p:nvPr/>
        </p:nvSpPr>
        <p:spPr>
          <a:xfrm>
            <a:off x="6309360" y="1645920"/>
            <a:ext cx="5394960" cy="3291840"/>
          </a:xfrm>
          <a:prstGeom prst="roundRect">
            <a:avLst>
              <a:gd name="adj" fmla="val 3333"/>
            </a:avLst>
          </a:prstGeom>
          <a:solidFill>
            <a:srgbClr val="111120"/>
          </a:solidFill>
          <a:ln w="12700">
            <a:solidFill>
              <a:srgbClr val="22D3EE"/>
            </a:solidFill>
            <a:prstDash val="solid"/>
          </a:ln>
        </p:spPr>
      </p:sp>
      <p:sp>
        <p:nvSpPr>
          <p:cNvPr id="9" name="Text 6"/>
          <p:cNvSpPr/>
          <p:nvPr/>
        </p:nvSpPr>
        <p:spPr>
          <a:xfrm>
            <a:off x="6537960" y="1783080"/>
            <a:ext cx="4937760" cy="365760"/>
          </a:xfrm>
          <a:prstGeom prst="rect">
            <a:avLst/>
          </a:prstGeom>
          <a:noFill/>
          <a:ln/>
        </p:spPr>
        <p:txBody>
          <a:bodyPr wrap="square" rtlCol="0" anchor="ctr"/>
          <a:lstStyle/>
          <a:p>
            <a:pPr indent="0" marL="0">
              <a:buNone/>
            </a:pPr>
            <a:r>
              <a:rPr lang="en-US" sz="1300" b="1" spc="200" kern="0" dirty="0">
                <a:solidFill>
                  <a:srgbClr val="22D3EE"/>
                </a:solidFill>
                <a:latin typeface="Noto Sans KR" pitchFamily="34" charset="0"/>
                <a:ea typeface="Noto Sans KR" pitchFamily="34" charset="-122"/>
                <a:cs typeface="Noto Sans KR" pitchFamily="34" charset="-120"/>
              </a:rPr>
              <a:t>전환: ECS on EC2</a:t>
            </a:r>
            <a:endParaRPr lang="en-US" sz="1300" dirty="0"/>
          </a:p>
        </p:txBody>
      </p:sp>
      <p:sp>
        <p:nvSpPr>
          <p:cNvPr id="10" name="Text 7"/>
          <p:cNvSpPr/>
          <p:nvPr/>
        </p:nvSpPr>
        <p:spPr>
          <a:xfrm>
            <a:off x="6537960" y="2148840"/>
            <a:ext cx="4937760" cy="260604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클러스터 관리 무료 — 컨테이너 비용만</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ALB·ASG·CloudWatch와 네이티브 통합</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Task Definition 하나로 배포 정의 끝</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Fargate 대신 EC2 — 비용 절감 + ASG 직접 제어</a:t>
            </a:r>
            <a:endParaRPr lang="en-US" sz="1450" dirty="0"/>
          </a:p>
        </p:txBody>
      </p:sp>
      <p:sp>
        <p:nvSpPr>
          <p:cNvPr id="11" name="Text 8"/>
          <p:cNvSpPr/>
          <p:nvPr/>
        </p:nvSpPr>
        <p:spPr>
          <a:xfrm>
            <a:off x="640080" y="5394960"/>
            <a:ext cx="10972800" cy="457200"/>
          </a:xfrm>
          <a:prstGeom prst="rect">
            <a:avLst/>
          </a:prstGeom>
          <a:noFill/>
          <a:ln/>
        </p:spPr>
        <p:txBody>
          <a:bodyPr wrap="square" rtlCol="0" anchor="ctr"/>
          <a:lstStyle/>
          <a:p>
            <a:pPr indent="0" marL="0">
              <a:buNone/>
            </a:pPr>
            <a:r>
              <a:rPr lang="en-US" sz="1600" i="1" dirty="0">
                <a:solidFill>
                  <a:srgbClr val="8B8FB8"/>
                </a:solidFill>
                <a:latin typeface="Noto Sans KR" pitchFamily="34" charset="0"/>
                <a:ea typeface="Noto Sans KR" pitchFamily="34" charset="-122"/>
                <a:cs typeface="Noto Sans KR" pitchFamily="34" charset="-120"/>
              </a:rPr>
              <a:t>교훈: 기술 선택은 "유행"이 아니라 규모와 팀에 맞는 복잡도로</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05 — STATE MANAGEMENT</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Stateless 서버 + ElastiCache Redis</a:t>
            </a:r>
            <a:endParaRPr lang="en-US" sz="3000" dirty="0"/>
          </a:p>
        </p:txBody>
      </p:sp>
      <p:sp>
        <p:nvSpPr>
          <p:cNvPr id="5" name="Text 2"/>
          <p:cNvSpPr/>
          <p:nvPr/>
        </p:nvSpPr>
        <p:spPr>
          <a:xfrm>
            <a:off x="640080" y="1645920"/>
            <a:ext cx="5943600" cy="4572000"/>
          </a:xfrm>
          <a:prstGeom prst="rect">
            <a:avLst/>
          </a:prstGeom>
          <a:noFill/>
          <a:ln/>
        </p:spPr>
        <p:txBody>
          <a:bodyPr wrap="square" rtlCol="0" anchor="t"/>
          <a:lstStyle/>
          <a:p>
            <a:pPr indent="0" marL="0">
              <a:lnSpc>
                <a:spcPct val="145000"/>
              </a:lnSpc>
              <a:buNone/>
            </a:pPr>
            <a:r>
              <a:rPr lang="en-US" sz="12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550" b="1" dirty="0">
                <a:solidFill>
                  <a:srgbClr val="E7E9FF"/>
                </a:solidFill>
                <a:latin typeface="Noto Sans KR" pitchFamily="34" charset="0"/>
                <a:ea typeface="Noto Sans KR" pitchFamily="34" charset="-122"/>
                <a:cs typeface="Noto Sans KR" pitchFamily="34" charset="-120"/>
              </a:rPr>
              <a:t>게임 상태 전부 Redis에</a:t>
            </a:r>
            <a:pPr indent="0" marL="0">
              <a:lnSpc>
                <a:spcPct val="145000"/>
              </a:lnSpc>
              <a:buNone/>
            </a:pPr>
            <a:r>
              <a:rPr lang="en-US" sz="1300" dirty="0">
                <a:solidFill>
                  <a:srgbClr val="8B8FB8"/>
                </a:solidFill>
                <a:latin typeface="Noto Sans KR" pitchFamily="34" charset="0"/>
                <a:ea typeface="Noto Sans KR" pitchFamily="34" charset="-122"/>
                <a:cs typeface="Noto Sans KR" pitchFamily="34" charset="-120"/>
              </a:rPr>
              <a:t>  — 카드, 팟, 턴, 타이머 deadline까지</a:t>
            </a:r>
            <a:pPr indent="0" marL="0">
              <a:lnSpc>
                <a:spcPct val="145000"/>
              </a:lnSpc>
              <a:buNone/>
            </a:pPr>
            <a:r>
              <a:rPr lang="en-US" sz="125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2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550" b="1" dirty="0">
                <a:solidFill>
                  <a:srgbClr val="E7E9FF"/>
                </a:solidFill>
                <a:latin typeface="Noto Sans KR" pitchFamily="34" charset="0"/>
                <a:ea typeface="Noto Sans KR" pitchFamily="34" charset="-122"/>
                <a:cs typeface="Noto Sans KR" pitchFamily="34" charset="-120"/>
              </a:rPr>
              <a:t>Pub/Sub로 게임 이벤트 브로드캐스트</a:t>
            </a:r>
            <a:pPr indent="0" marL="0">
              <a:lnSpc>
                <a:spcPct val="145000"/>
              </a:lnSpc>
              <a:buNone/>
            </a:pPr>
            <a:r>
              <a:rPr lang="en-US" sz="1300" dirty="0">
                <a:solidFill>
                  <a:srgbClr val="8B8FB8"/>
                </a:solidFill>
                <a:latin typeface="Noto Sans KR" pitchFamily="34" charset="0"/>
                <a:ea typeface="Noto Sans KR" pitchFamily="34" charset="-122"/>
                <a:cs typeface="Noto Sans KR" pitchFamily="34" charset="-120"/>
              </a:rPr>
              <a:t>  — 다른 태스크의 플레이어에게도 전달</a:t>
            </a:r>
            <a:pPr indent="0" marL="0">
              <a:lnSpc>
                <a:spcPct val="145000"/>
              </a:lnSpc>
              <a:buNone/>
            </a:pPr>
            <a:r>
              <a:rPr lang="en-US" sz="125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2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550" b="1" dirty="0">
                <a:solidFill>
                  <a:srgbClr val="E7E9FF"/>
                </a:solidFill>
                <a:latin typeface="Noto Sans KR" pitchFamily="34" charset="0"/>
                <a:ea typeface="Noto Sans KR" pitchFamily="34" charset="-122"/>
                <a:cs typeface="Noto Sans KR" pitchFamily="34" charset="-120"/>
              </a:rPr>
              <a:t>Lua 스크립트로 원자적 업데이트</a:t>
            </a:r>
            <a:pPr indent="0" marL="0">
              <a:lnSpc>
                <a:spcPct val="145000"/>
              </a:lnSpc>
              <a:buNone/>
            </a:pPr>
            <a:r>
              <a:rPr lang="en-US" sz="1300" dirty="0">
                <a:solidFill>
                  <a:srgbClr val="8B8FB8"/>
                </a:solidFill>
                <a:latin typeface="Noto Sans KR" pitchFamily="34" charset="0"/>
                <a:ea typeface="Noto Sans KR" pitchFamily="34" charset="-122"/>
                <a:cs typeface="Noto Sans KR" pitchFamily="34" charset="-120"/>
              </a:rPr>
              <a:t>  — race condition 방어</a:t>
            </a:r>
            <a:pPr indent="0" marL="0">
              <a:lnSpc>
                <a:spcPct val="145000"/>
              </a:lnSpc>
              <a:buNone/>
            </a:pPr>
            <a:r>
              <a:rPr lang="en-US" sz="125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2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550" b="1" dirty="0">
                <a:solidFill>
                  <a:srgbClr val="E7E9FF"/>
                </a:solidFill>
                <a:latin typeface="Noto Sans KR" pitchFamily="34" charset="0"/>
                <a:ea typeface="Noto Sans KR" pitchFamily="34" charset="-122"/>
                <a:cs typeface="Noto Sans KR" pitchFamily="34" charset="-120"/>
              </a:rPr>
              <a:t>턴 타이머: turn_deadline 1초 폴링 → 만료 시 auto-fold</a:t>
            </a:r>
            <a:pPr indent="0" marL="0">
              <a:lnSpc>
                <a:spcPct val="145000"/>
              </a:lnSpc>
              <a:buNone/>
            </a:pPr>
            <a:r>
              <a:rPr lang="en-US" sz="1250" dirty="0">
                <a:solidFill>
                  <a:srgbClr val="000000"/>
                </a:solidFill>
                <a:latin typeface="Noto Sans KR" pitchFamily="34" charset="0"/>
                <a:ea typeface="Noto Sans KR" pitchFamily="34" charset="-122"/>
                <a:cs typeface="Noto Sans KR" pitchFamily="34" charset="-120"/>
              </a:rPr>
              <a:t>
</a:t>
            </a:r>
            <a:endParaRPr lang="en-US" sz="1250" dirty="0"/>
          </a:p>
        </p:txBody>
      </p:sp>
      <p:sp>
        <p:nvSpPr>
          <p:cNvPr id="6" name="Shape 3"/>
          <p:cNvSpPr/>
          <p:nvPr/>
        </p:nvSpPr>
        <p:spPr>
          <a:xfrm>
            <a:off x="6766560" y="1645920"/>
            <a:ext cx="4846320" cy="3840480"/>
          </a:xfrm>
          <a:prstGeom prst="roundRect">
            <a:avLst>
              <a:gd name="adj" fmla="val 2857"/>
            </a:avLst>
          </a:prstGeom>
          <a:solidFill>
            <a:srgbClr val="111120"/>
          </a:solidFill>
          <a:ln w="12700">
            <a:solidFill>
              <a:srgbClr val="34D399"/>
            </a:solidFill>
            <a:prstDash val="solid"/>
          </a:ln>
        </p:spPr>
      </p:sp>
      <p:sp>
        <p:nvSpPr>
          <p:cNvPr id="7" name="Text 4"/>
          <p:cNvSpPr/>
          <p:nvPr/>
        </p:nvSpPr>
        <p:spPr>
          <a:xfrm>
            <a:off x="6995160" y="1783080"/>
            <a:ext cx="4389120" cy="365760"/>
          </a:xfrm>
          <a:prstGeom prst="rect">
            <a:avLst/>
          </a:prstGeom>
          <a:noFill/>
          <a:ln/>
        </p:spPr>
        <p:txBody>
          <a:bodyPr wrap="square" rtlCol="0" anchor="ctr"/>
          <a:lstStyle/>
          <a:p>
            <a:pPr indent="0" marL="0">
              <a:buNone/>
            </a:pPr>
            <a:r>
              <a:rPr lang="en-US" sz="1300" b="1" spc="200" kern="0" dirty="0">
                <a:solidFill>
                  <a:srgbClr val="34D399"/>
                </a:solidFill>
                <a:latin typeface="Noto Sans KR" pitchFamily="34" charset="0"/>
                <a:ea typeface="Noto Sans KR" pitchFamily="34" charset="-122"/>
                <a:cs typeface="Noto Sans KR" pitchFamily="34" charset="-120"/>
              </a:rPr>
              <a:t>실제로 검증한 시나리오</a:t>
            </a:r>
            <a:endParaRPr lang="en-US" sz="1300" dirty="0"/>
          </a:p>
        </p:txBody>
      </p:sp>
      <p:sp>
        <p:nvSpPr>
          <p:cNvPr id="8" name="Text 5"/>
          <p:cNvSpPr/>
          <p:nvPr/>
        </p:nvSpPr>
        <p:spPr>
          <a:xfrm>
            <a:off x="6995160" y="2148840"/>
            <a:ext cx="4389120" cy="315468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4명의 클라이언트가 ALB를 거쳐 서로 다른 ECS 태스크에 분산 접속</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프리플랍부터 쇼다운까지 풀 게임 완주 ✓</a:t>
            </a:r>
            <a:endParaRPr lang="en-US" sz="1450" dirty="0"/>
          </a:p>
          <a:p>
            <a:pPr indent="0" marL="0">
              <a:lnSpc>
                <a:spcPct val="135000"/>
              </a:lnSpc>
              <a:buNone/>
            </a:pP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Redis 상태 공유와 크로스 인스턴스 Pub/Sub이 프로덕션에서 동작함을 증명</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06 — DEPLOYMENT</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컨테이너 배포 파이프라인</a:t>
            </a:r>
            <a:endParaRPr lang="en-US" sz="3000" dirty="0"/>
          </a:p>
        </p:txBody>
      </p:sp>
      <p:sp>
        <p:nvSpPr>
          <p:cNvPr id="5" name="Shape 2"/>
          <p:cNvSpPr/>
          <p:nvPr/>
        </p:nvSpPr>
        <p:spPr>
          <a:xfrm>
            <a:off x="640080" y="1645920"/>
            <a:ext cx="10972800" cy="914400"/>
          </a:xfrm>
          <a:prstGeom prst="roundRect">
            <a:avLst>
              <a:gd name="adj" fmla="val 10000"/>
            </a:avLst>
          </a:prstGeom>
          <a:solidFill>
            <a:srgbClr val="111120"/>
          </a:solidFill>
          <a:ln w="12700">
            <a:solidFill>
              <a:srgbClr val="A78BFA"/>
            </a:solidFill>
            <a:prstDash val="solid"/>
          </a:ln>
        </p:spPr>
      </p:sp>
      <p:sp>
        <p:nvSpPr>
          <p:cNvPr id="6" name="Text 3"/>
          <p:cNvSpPr/>
          <p:nvPr/>
        </p:nvSpPr>
        <p:spPr>
          <a:xfrm>
            <a:off x="822960" y="1691640"/>
            <a:ext cx="10607040" cy="822960"/>
          </a:xfrm>
          <a:prstGeom prst="rect">
            <a:avLst/>
          </a:prstGeom>
          <a:noFill/>
          <a:ln/>
        </p:spPr>
        <p:txBody>
          <a:bodyPr wrap="square" rtlCol="0" anchor="ctr"/>
          <a:lstStyle/>
          <a:p>
            <a:pPr algn="ctr" indent="0" marL="0">
              <a:buNone/>
            </a:pPr>
            <a:r>
              <a:rPr lang="en-US" sz="1700" b="1" dirty="0">
                <a:solidFill>
                  <a:srgbClr val="22D3EE"/>
                </a:solidFill>
                <a:latin typeface="Noto Sans KR" pitchFamily="34" charset="0"/>
                <a:ea typeface="Noto Sans KR" pitchFamily="34" charset="-122"/>
                <a:cs typeface="Noto Sans KR" pitchFamily="34" charset="-120"/>
              </a:rPr>
              <a:t>Dockerfile</a:t>
            </a:r>
            <a:pPr algn="ctr" indent="0" marL="0">
              <a:buNone/>
            </a:pPr>
            <a:r>
              <a:rPr lang="en-US" sz="1700" dirty="0">
                <a:solidFill>
                  <a:srgbClr val="8B8FB8"/>
                </a:solidFill>
                <a:latin typeface="Noto Sans KR" pitchFamily="34" charset="0"/>
                <a:ea typeface="Noto Sans KR" pitchFamily="34" charset="-122"/>
                <a:cs typeface="Noto Sans KR" pitchFamily="34" charset="-120"/>
              </a:rPr>
              <a:t> (node:20-alpine, 56MB)  →  </a:t>
            </a:r>
            <a:pPr algn="ctr" indent="0" marL="0">
              <a:buNone/>
            </a:pPr>
            <a:r>
              <a:rPr lang="en-US" sz="1700" b="1" dirty="0">
                <a:solidFill>
                  <a:srgbClr val="3B82F6"/>
                </a:solidFill>
                <a:latin typeface="Noto Sans KR" pitchFamily="34" charset="0"/>
                <a:ea typeface="Noto Sans KR" pitchFamily="34" charset="-122"/>
                <a:cs typeface="Noto Sans KR" pitchFamily="34" charset="-120"/>
              </a:rPr>
              <a:t>ECR</a:t>
            </a:r>
            <a:pPr algn="ctr" indent="0" marL="0">
              <a:buNone/>
            </a:pPr>
            <a:r>
              <a:rPr lang="en-US" sz="1700" dirty="0">
                <a:solidFill>
                  <a:srgbClr val="8B8FB8"/>
                </a:solidFill>
                <a:latin typeface="Noto Sans KR" pitchFamily="34" charset="0"/>
                <a:ea typeface="Noto Sans KR" pitchFamily="34" charset="-122"/>
                <a:cs typeface="Noto Sans KR" pitchFamily="34" charset="-120"/>
              </a:rPr>
              <a:t> push  →  </a:t>
            </a:r>
            <a:pPr algn="ctr" indent="0" marL="0">
              <a:buNone/>
            </a:pPr>
            <a:r>
              <a:rPr lang="en-US" sz="1700" b="1" dirty="0">
                <a:solidFill>
                  <a:srgbClr val="A78BFA"/>
                </a:solidFill>
                <a:latin typeface="Noto Sans KR" pitchFamily="34" charset="0"/>
                <a:ea typeface="Noto Sans KR" pitchFamily="34" charset="-122"/>
                <a:cs typeface="Noto Sans KR" pitchFamily="34" charset="-120"/>
              </a:rPr>
              <a:t>Task Definition</a:t>
            </a:r>
            <a:pPr algn="ctr" indent="0" marL="0">
              <a:buNone/>
            </a:pPr>
            <a:r>
              <a:rPr lang="en-US" sz="1700" dirty="0">
                <a:solidFill>
                  <a:srgbClr val="8B8FB8"/>
                </a:solidFill>
                <a:latin typeface="Noto Sans KR" pitchFamily="34" charset="0"/>
                <a:ea typeface="Noto Sans KR" pitchFamily="34" charset="-122"/>
                <a:cs typeface="Noto Sans KR" pitchFamily="34" charset="-120"/>
              </a:rPr>
              <a:t> 등록  →  </a:t>
            </a:r>
            <a:pPr algn="ctr" indent="0" marL="0">
              <a:buNone/>
            </a:pPr>
            <a:r>
              <a:rPr lang="en-US" sz="1700" b="1" dirty="0">
                <a:solidFill>
                  <a:srgbClr val="22D3EE"/>
                </a:solidFill>
                <a:latin typeface="Noto Sans KR" pitchFamily="34" charset="0"/>
                <a:ea typeface="Noto Sans KR" pitchFamily="34" charset="-122"/>
                <a:cs typeface="Noto Sans KR" pitchFamily="34" charset="-120"/>
              </a:rPr>
              <a:t>ECS Service</a:t>
            </a:r>
            <a:pPr algn="ctr" indent="0" marL="0">
              <a:buNone/>
            </a:pPr>
            <a:r>
              <a:rPr lang="en-US" sz="1700" dirty="0">
                <a:solidFill>
                  <a:srgbClr val="E7E9FF"/>
                </a:solidFill>
                <a:latin typeface="Noto Sans KR" pitchFamily="34" charset="0"/>
                <a:ea typeface="Noto Sans KR" pitchFamily="34" charset="-122"/>
                <a:cs typeface="Noto Sans KR" pitchFamily="34" charset="-120"/>
              </a:rPr>
              <a:t> 롤링 배포</a:t>
            </a:r>
            <a:endParaRPr lang="en-US" sz="1700" dirty="0"/>
          </a:p>
        </p:txBody>
      </p:sp>
      <p:sp>
        <p:nvSpPr>
          <p:cNvPr id="7" name="Text 4"/>
          <p:cNvSpPr/>
          <p:nvPr/>
        </p:nvSpPr>
        <p:spPr>
          <a:xfrm>
            <a:off x="640080" y="2834640"/>
            <a:ext cx="10972800" cy="4572000"/>
          </a:xfrm>
          <a:prstGeom prst="rect">
            <a:avLst/>
          </a:prstGeom>
          <a:noFill/>
          <a:ln/>
        </p:spPr>
        <p:txBody>
          <a:bodyPr wrap="square" rtlCol="0" anchor="t"/>
          <a:lstStyle/>
          <a:p>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awsvpc 네트워크 모드</a:t>
            </a:r>
            <a:pPr indent="0" marL="0">
              <a:lnSpc>
                <a:spcPct val="145000"/>
              </a:lnSpc>
              <a:buNone/>
            </a:pPr>
            <a:r>
              <a:rPr lang="en-US" sz="1350" dirty="0">
                <a:solidFill>
                  <a:srgbClr val="8B8FB8"/>
                </a:solidFill>
                <a:latin typeface="Noto Sans KR" pitchFamily="34" charset="0"/>
                <a:ea typeface="Noto Sans KR" pitchFamily="34" charset="-122"/>
                <a:cs typeface="Noto Sans KR" pitchFamily="34" charset="-120"/>
              </a:rPr>
              <a:t>  — 태스크마다 자체 ENI/IP, 보안그룹을 태스크 단위로 적용</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롤링 배포: minimumHealthy 100% / maximum 200%</a:t>
            </a:r>
            <a:pPr indent="0" marL="0">
              <a:lnSpc>
                <a:spcPct val="145000"/>
              </a:lnSpc>
              <a:buNone/>
            </a:pPr>
            <a:r>
              <a:rPr lang="en-US" sz="1350" dirty="0">
                <a:solidFill>
                  <a:srgbClr val="8B8FB8"/>
                </a:solidFill>
                <a:latin typeface="Noto Sans KR" pitchFamily="34" charset="0"/>
                <a:ea typeface="Noto Sans KR" pitchFamily="34" charset="-122"/>
                <a:cs typeface="Noto Sans KR" pitchFamily="34" charset="-120"/>
              </a:rPr>
              <a:t>  — 무중단 배포</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컨테이너 헬스체크 + ALB /health 이중화</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재배포 = push 후 update-service --force-new-deployment 한 줄</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07 — TRAFFIC</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ALB — WebSocket을 위한 설정</a:t>
            </a:r>
            <a:endParaRPr lang="en-US" sz="3000" dirty="0"/>
          </a:p>
        </p:txBody>
      </p:sp>
      <p:sp>
        <p:nvSpPr>
          <p:cNvPr id="5" name="Text 2"/>
          <p:cNvSpPr/>
          <p:nvPr/>
        </p:nvSpPr>
        <p:spPr>
          <a:xfrm>
            <a:off x="640080" y="1645920"/>
            <a:ext cx="10972800" cy="4572000"/>
          </a:xfrm>
          <a:prstGeom prst="rect">
            <a:avLst/>
          </a:prstGeom>
          <a:noFill/>
          <a:ln/>
        </p:spPr>
        <p:txBody>
          <a:bodyPr wrap="square" rtlCol="0" anchor="t"/>
          <a:lstStyle/>
          <a:p>
            <a:pPr indent="0" marL="0">
              <a:lnSpc>
                <a:spcPct val="145000"/>
              </a:lnSpc>
              <a:buNone/>
            </a:pPr>
            <a:r>
              <a:rPr lang="en-US" sz="14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700" b="1" dirty="0">
                <a:solidFill>
                  <a:srgbClr val="E7E9FF"/>
                </a:solidFill>
                <a:latin typeface="Noto Sans KR" pitchFamily="34" charset="0"/>
                <a:ea typeface="Noto Sans KR" pitchFamily="34" charset="-122"/>
                <a:cs typeface="Noto Sans KR" pitchFamily="34" charset="-120"/>
              </a:rPr>
              <a:t>idle timeout 3600초</a:t>
            </a:r>
            <a:pPr indent="0" marL="0">
              <a:lnSpc>
                <a:spcPct val="145000"/>
              </a:lnSpc>
              <a:buNone/>
            </a:pPr>
            <a:r>
              <a:rPr lang="en-US" sz="1450" dirty="0">
                <a:solidFill>
                  <a:srgbClr val="8B8FB8"/>
                </a:solidFill>
                <a:latin typeface="Noto Sans KR" pitchFamily="34" charset="0"/>
                <a:ea typeface="Noto Sans KR" pitchFamily="34" charset="-122"/>
                <a:cs typeface="Noto Sans KR" pitchFamily="34" charset="-120"/>
              </a:rPr>
              <a:t>  — 기본 60초면 게임 중 WebSocket이 끊김. 가장 중요한 한 줄</a:t>
            </a:r>
            <a:pPr indent="0" marL="0">
              <a:lnSpc>
                <a:spcPct val="145000"/>
              </a:lnSpc>
              <a:buNone/>
            </a:pPr>
            <a:r>
              <a:rPr lang="en-US" sz="14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4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700" b="1" dirty="0">
                <a:solidFill>
                  <a:srgbClr val="E7E9FF"/>
                </a:solidFill>
                <a:latin typeface="Noto Sans KR" pitchFamily="34" charset="0"/>
                <a:ea typeface="Noto Sans KR" pitchFamily="34" charset="-122"/>
                <a:cs typeface="Noto Sans KR" pitchFamily="34" charset="-120"/>
              </a:rPr>
              <a:t>target-type: ip</a:t>
            </a:r>
            <a:pPr indent="0" marL="0">
              <a:lnSpc>
                <a:spcPct val="145000"/>
              </a:lnSpc>
              <a:buNone/>
            </a:pPr>
            <a:r>
              <a:rPr lang="en-US" sz="1450" dirty="0">
                <a:solidFill>
                  <a:srgbClr val="8B8FB8"/>
                </a:solidFill>
                <a:latin typeface="Noto Sans KR" pitchFamily="34" charset="0"/>
                <a:ea typeface="Noto Sans KR" pitchFamily="34" charset="-122"/>
                <a:cs typeface="Noto Sans KR" pitchFamily="34" charset="-120"/>
              </a:rPr>
              <a:t>  — awsvpc 모드 태스크의 ENI로 직접 라우팅</a:t>
            </a:r>
            <a:pPr indent="0" marL="0">
              <a:lnSpc>
                <a:spcPct val="145000"/>
              </a:lnSpc>
              <a:buNone/>
            </a:pPr>
            <a:r>
              <a:rPr lang="en-US" sz="14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4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700" b="1" dirty="0">
                <a:solidFill>
                  <a:srgbClr val="E7E9FF"/>
                </a:solidFill>
                <a:latin typeface="Noto Sans KR" pitchFamily="34" charset="0"/>
                <a:ea typeface="Noto Sans KR" pitchFamily="34" charset="-122"/>
                <a:cs typeface="Noto Sans KR" pitchFamily="34" charset="-120"/>
              </a:rPr>
              <a:t>헬스체크: GET /health 30초 간격</a:t>
            </a:r>
            <a:pPr indent="0" marL="0">
              <a:lnSpc>
                <a:spcPct val="145000"/>
              </a:lnSpc>
              <a:buNone/>
            </a:pPr>
            <a:r>
              <a:rPr lang="en-US" sz="1450" dirty="0">
                <a:solidFill>
                  <a:srgbClr val="8B8FB8"/>
                </a:solidFill>
                <a:latin typeface="Noto Sans KR" pitchFamily="34" charset="0"/>
                <a:ea typeface="Noto Sans KR" pitchFamily="34" charset="-122"/>
                <a:cs typeface="Noto Sans KR" pitchFamily="34" charset="-120"/>
              </a:rPr>
              <a:t>  — healthy 2회 / unhealthy 3회</a:t>
            </a:r>
            <a:pPr indent="0" marL="0">
              <a:lnSpc>
                <a:spcPct val="145000"/>
              </a:lnSpc>
              <a:buNone/>
            </a:pPr>
            <a:r>
              <a:rPr lang="en-US" sz="14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4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700" b="1" dirty="0">
                <a:solidFill>
                  <a:srgbClr val="E7E9FF"/>
                </a:solidFill>
                <a:latin typeface="Noto Sans KR" pitchFamily="34" charset="0"/>
                <a:ea typeface="Noto Sans KR" pitchFamily="34" charset="-122"/>
                <a:cs typeface="Noto Sans KR" pitchFamily="34" charset="-120"/>
              </a:rPr>
              <a:t>ws:// 업그레이드는 ALB가 네이티브 지원</a:t>
            </a:r>
            <a:pPr indent="0" marL="0">
              <a:lnSpc>
                <a:spcPct val="145000"/>
              </a:lnSpc>
              <a:buNone/>
            </a:pPr>
            <a:r>
              <a:rPr lang="en-US" sz="1400" dirty="0">
                <a:solidFill>
                  <a:srgbClr val="000000"/>
                </a:solidFill>
                <a:latin typeface="Noto Sans KR" pitchFamily="34" charset="0"/>
                <a:ea typeface="Noto Sans KR" pitchFamily="34" charset="-122"/>
                <a:cs typeface="Noto Sans KR" pitchFamily="34" charset="-120"/>
              </a:rPr>
              <a:t>
</a:t>
            </a:r>
            <a:endParaRPr lang="en-US" sz="1400" dirty="0"/>
          </a:p>
        </p:txBody>
      </p:sp>
      <p:sp>
        <p:nvSpPr>
          <p:cNvPr id="6" name="Shape 3"/>
          <p:cNvSpPr/>
          <p:nvPr/>
        </p:nvSpPr>
        <p:spPr>
          <a:xfrm>
            <a:off x="640080" y="4572000"/>
            <a:ext cx="10972800" cy="1645920"/>
          </a:xfrm>
          <a:prstGeom prst="roundRect">
            <a:avLst>
              <a:gd name="adj" fmla="val 6667"/>
            </a:avLst>
          </a:prstGeom>
          <a:solidFill>
            <a:srgbClr val="111120"/>
          </a:solidFill>
          <a:ln w="12700">
            <a:solidFill>
              <a:srgbClr val="A78BFA"/>
            </a:solidFill>
            <a:prstDash val="solid"/>
          </a:ln>
        </p:spPr>
      </p:sp>
      <p:sp>
        <p:nvSpPr>
          <p:cNvPr id="7" name="Text 4"/>
          <p:cNvSpPr/>
          <p:nvPr/>
        </p:nvSpPr>
        <p:spPr>
          <a:xfrm>
            <a:off x="868680" y="4709160"/>
            <a:ext cx="10515600" cy="365760"/>
          </a:xfrm>
          <a:prstGeom prst="rect">
            <a:avLst/>
          </a:prstGeom>
          <a:noFill/>
          <a:ln/>
        </p:spPr>
        <p:txBody>
          <a:bodyPr wrap="square" rtlCol="0" anchor="ctr"/>
          <a:lstStyle/>
          <a:p>
            <a:pPr indent="0" marL="0">
              <a:buNone/>
            </a:pPr>
            <a:r>
              <a:rPr lang="en-US" sz="1300" b="1" spc="200" kern="0" dirty="0">
                <a:solidFill>
                  <a:srgbClr val="A78BFA"/>
                </a:solidFill>
                <a:latin typeface="Noto Sans KR" pitchFamily="34" charset="0"/>
                <a:ea typeface="Noto Sans KR" pitchFamily="34" charset="-122"/>
                <a:cs typeface="Noto Sans KR" pitchFamily="34" charset="-120"/>
              </a:rPr>
              <a:t>왜 NLB가 아니라 ALB?</a:t>
            </a:r>
            <a:endParaRPr lang="en-US" sz="1300" dirty="0"/>
          </a:p>
        </p:txBody>
      </p:sp>
      <p:sp>
        <p:nvSpPr>
          <p:cNvPr id="8" name="Text 5"/>
          <p:cNvSpPr/>
          <p:nvPr/>
        </p:nvSpPr>
        <p:spPr>
          <a:xfrm>
            <a:off x="868680" y="5074920"/>
            <a:ext cx="10515600" cy="96012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L7 헬스체크(경로 기반)와 WebSocket 업그레이드 처리, 추후 경로 라우팅 확장성 — 이 규모에서는 ALB가 운영상 단순</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08 — AUTO SCALING</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2단 Auto Scaling</a:t>
            </a:r>
            <a:endParaRPr lang="en-US" sz="3000" dirty="0"/>
          </a:p>
        </p:txBody>
      </p:sp>
      <p:sp>
        <p:nvSpPr>
          <p:cNvPr id="5" name="Shape 2"/>
          <p:cNvSpPr/>
          <p:nvPr/>
        </p:nvSpPr>
        <p:spPr>
          <a:xfrm>
            <a:off x="640080" y="1645920"/>
            <a:ext cx="5394960" cy="2103120"/>
          </a:xfrm>
          <a:prstGeom prst="roundRect">
            <a:avLst>
              <a:gd name="adj" fmla="val 5217"/>
            </a:avLst>
          </a:prstGeom>
          <a:solidFill>
            <a:srgbClr val="111120"/>
          </a:solidFill>
          <a:ln w="12700">
            <a:solidFill>
              <a:srgbClr val="22D3EE"/>
            </a:solidFill>
            <a:prstDash val="solid"/>
          </a:ln>
        </p:spPr>
      </p:sp>
      <p:sp>
        <p:nvSpPr>
          <p:cNvPr id="6" name="Text 3"/>
          <p:cNvSpPr/>
          <p:nvPr/>
        </p:nvSpPr>
        <p:spPr>
          <a:xfrm>
            <a:off x="868680" y="1783080"/>
            <a:ext cx="4937760" cy="365760"/>
          </a:xfrm>
          <a:prstGeom prst="rect">
            <a:avLst/>
          </a:prstGeom>
          <a:noFill/>
          <a:ln/>
        </p:spPr>
        <p:txBody>
          <a:bodyPr wrap="square" rtlCol="0" anchor="ctr"/>
          <a:lstStyle/>
          <a:p>
            <a:pPr indent="0" marL="0">
              <a:buNone/>
            </a:pPr>
            <a:r>
              <a:rPr lang="en-US" sz="1300" b="1" spc="200" kern="0" dirty="0">
                <a:solidFill>
                  <a:srgbClr val="22D3EE"/>
                </a:solidFill>
                <a:latin typeface="Noto Sans KR" pitchFamily="34" charset="0"/>
                <a:ea typeface="Noto Sans KR" pitchFamily="34" charset="-122"/>
                <a:cs typeface="Noto Sans KR" pitchFamily="34" charset="-120"/>
              </a:rPr>
              <a:t>① 서비스 레벨 (App Auto Scaling)</a:t>
            </a:r>
            <a:endParaRPr lang="en-US" sz="1300" dirty="0"/>
          </a:p>
        </p:txBody>
      </p:sp>
      <p:sp>
        <p:nvSpPr>
          <p:cNvPr id="7" name="Text 4"/>
          <p:cNvSpPr/>
          <p:nvPr/>
        </p:nvSpPr>
        <p:spPr>
          <a:xfrm>
            <a:off x="868680" y="2148840"/>
            <a:ext cx="4937760" cy="141732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ECS Service 태스크 수: 2 ~ 8개</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CPU 70% 타깃 트래킹</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scale-out 60s / scale-in 300s 쿨다운</a:t>
            </a:r>
            <a:endParaRPr lang="en-US" sz="1450" dirty="0"/>
          </a:p>
        </p:txBody>
      </p:sp>
      <p:sp>
        <p:nvSpPr>
          <p:cNvPr id="8" name="Shape 5"/>
          <p:cNvSpPr/>
          <p:nvPr/>
        </p:nvSpPr>
        <p:spPr>
          <a:xfrm>
            <a:off x="640080" y="3931920"/>
            <a:ext cx="5394960" cy="2194560"/>
          </a:xfrm>
          <a:prstGeom prst="roundRect">
            <a:avLst>
              <a:gd name="adj" fmla="val 5000"/>
            </a:avLst>
          </a:prstGeom>
          <a:solidFill>
            <a:srgbClr val="111120"/>
          </a:solidFill>
          <a:ln w="12700">
            <a:solidFill>
              <a:srgbClr val="A78BFA"/>
            </a:solidFill>
            <a:prstDash val="solid"/>
          </a:ln>
        </p:spPr>
      </p:sp>
      <p:sp>
        <p:nvSpPr>
          <p:cNvPr id="9" name="Text 6"/>
          <p:cNvSpPr/>
          <p:nvPr/>
        </p:nvSpPr>
        <p:spPr>
          <a:xfrm>
            <a:off x="868680" y="4069080"/>
            <a:ext cx="4937760" cy="365760"/>
          </a:xfrm>
          <a:prstGeom prst="rect">
            <a:avLst/>
          </a:prstGeom>
          <a:noFill/>
          <a:ln/>
        </p:spPr>
        <p:txBody>
          <a:bodyPr wrap="square" rtlCol="0" anchor="ctr"/>
          <a:lstStyle/>
          <a:p>
            <a:pPr indent="0" marL="0">
              <a:buNone/>
            </a:pPr>
            <a:r>
              <a:rPr lang="en-US" sz="1300" b="1" spc="200" kern="0" dirty="0">
                <a:solidFill>
                  <a:srgbClr val="A78BFA"/>
                </a:solidFill>
                <a:latin typeface="Noto Sans KR" pitchFamily="34" charset="0"/>
                <a:ea typeface="Noto Sans KR" pitchFamily="34" charset="-122"/>
                <a:cs typeface="Noto Sans KR" pitchFamily="34" charset="-120"/>
              </a:rPr>
              <a:t>② 인프라 레벨 (Capacity Provider)</a:t>
            </a:r>
            <a:endParaRPr lang="en-US" sz="1300" dirty="0"/>
          </a:p>
        </p:txBody>
      </p:sp>
      <p:sp>
        <p:nvSpPr>
          <p:cNvPr id="10" name="Text 7"/>
          <p:cNvSpPr/>
          <p:nvPr/>
        </p:nvSpPr>
        <p:spPr>
          <a:xfrm>
            <a:off x="868680" y="4434840"/>
            <a:ext cx="4937760" cy="150876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ASG: t3.small 2 ~ 4대</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타깃 capacity 80% — 태스크가 못 들어가면 EC2 자동 증설</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관리형 스케일링: ECS가 ASG를 직접 조정</a:t>
            </a:r>
            <a:endParaRPr lang="en-US" sz="1450" dirty="0"/>
          </a:p>
        </p:txBody>
      </p:sp>
      <p:sp>
        <p:nvSpPr>
          <p:cNvPr id="11" name="Shape 8"/>
          <p:cNvSpPr/>
          <p:nvPr/>
        </p:nvSpPr>
        <p:spPr>
          <a:xfrm>
            <a:off x="6309360" y="1645920"/>
            <a:ext cx="5394960" cy="4480560"/>
          </a:xfrm>
          <a:prstGeom prst="roundRect">
            <a:avLst>
              <a:gd name="adj" fmla="val 2449"/>
            </a:avLst>
          </a:prstGeom>
          <a:solidFill>
            <a:srgbClr val="111120"/>
          </a:solidFill>
          <a:ln w="12700">
            <a:solidFill>
              <a:srgbClr val="34D399"/>
            </a:solidFill>
            <a:prstDash val="solid"/>
          </a:ln>
        </p:spPr>
      </p:sp>
      <p:sp>
        <p:nvSpPr>
          <p:cNvPr id="12" name="Text 9"/>
          <p:cNvSpPr/>
          <p:nvPr/>
        </p:nvSpPr>
        <p:spPr>
          <a:xfrm>
            <a:off x="6537960" y="1783080"/>
            <a:ext cx="4937760" cy="365760"/>
          </a:xfrm>
          <a:prstGeom prst="rect">
            <a:avLst/>
          </a:prstGeom>
          <a:noFill/>
          <a:ln/>
        </p:spPr>
        <p:txBody>
          <a:bodyPr wrap="square" rtlCol="0" anchor="ctr"/>
          <a:lstStyle/>
          <a:p>
            <a:pPr indent="0" marL="0">
              <a:buNone/>
            </a:pPr>
            <a:r>
              <a:rPr lang="en-US" sz="1300" b="1" spc="200" kern="0" dirty="0">
                <a:solidFill>
                  <a:srgbClr val="34D399"/>
                </a:solidFill>
                <a:latin typeface="Noto Sans KR" pitchFamily="34" charset="0"/>
                <a:ea typeface="Noto Sans KR" pitchFamily="34" charset="-122"/>
                <a:cs typeface="Noto Sans KR" pitchFamily="34" charset="-120"/>
              </a:rPr>
              <a:t>동작 흐름</a:t>
            </a:r>
            <a:endParaRPr lang="en-US" sz="1300" dirty="0"/>
          </a:p>
        </p:txBody>
      </p:sp>
      <p:sp>
        <p:nvSpPr>
          <p:cNvPr id="13" name="Text 10"/>
          <p:cNvSpPr/>
          <p:nvPr/>
        </p:nvSpPr>
        <p:spPr>
          <a:xfrm>
            <a:off x="6537960" y="2148840"/>
            <a:ext cx="4937760" cy="379476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트래픽 증가</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태스크 CPU 70% 초과</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태스크 증설 (서비스 레벨)</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EC2에 빈 자리 부족</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EC2 증설 (Capacity Provider)</a:t>
            </a:r>
            <a:endParaRPr lang="en-US" sz="1450" dirty="0"/>
          </a:p>
          <a:p>
            <a:pPr indent="0" marL="0">
              <a:lnSpc>
                <a:spcPct val="135000"/>
              </a:lnSpc>
              <a:buNone/>
            </a:pP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반대로 한가하면 역순 축소</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실습 중에는 비용 절약을 위해 desired 0으로 내려두기도</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09 — SECURITY</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최소 권한 설계</a:t>
            </a:r>
            <a:endParaRPr lang="en-US" sz="3000" dirty="0"/>
          </a:p>
        </p:txBody>
      </p:sp>
      <p:sp>
        <p:nvSpPr>
          <p:cNvPr id="5" name="Shape 2"/>
          <p:cNvSpPr/>
          <p:nvPr/>
        </p:nvSpPr>
        <p:spPr>
          <a:xfrm>
            <a:off x="640080" y="1645920"/>
            <a:ext cx="10972800" cy="822960"/>
          </a:xfrm>
          <a:prstGeom prst="roundRect">
            <a:avLst>
              <a:gd name="adj" fmla="val 11111"/>
            </a:avLst>
          </a:prstGeom>
          <a:solidFill>
            <a:srgbClr val="111120"/>
          </a:solidFill>
          <a:ln w="12700">
            <a:solidFill>
              <a:srgbClr val="A78BFA"/>
            </a:solidFill>
            <a:prstDash val="solid"/>
          </a:ln>
        </p:spPr>
      </p:sp>
      <p:sp>
        <p:nvSpPr>
          <p:cNvPr id="6" name="Text 3"/>
          <p:cNvSpPr/>
          <p:nvPr/>
        </p:nvSpPr>
        <p:spPr>
          <a:xfrm>
            <a:off x="822960" y="1691640"/>
            <a:ext cx="10607040" cy="731520"/>
          </a:xfrm>
          <a:prstGeom prst="rect">
            <a:avLst/>
          </a:prstGeom>
          <a:noFill/>
          <a:ln/>
        </p:spPr>
        <p:txBody>
          <a:bodyPr wrap="square" rtlCol="0" anchor="ctr"/>
          <a:lstStyle/>
          <a:p>
            <a:pPr algn="ctr" indent="0" marL="0">
              <a:buNone/>
            </a:pPr>
            <a:r>
              <a:rPr lang="en-US" sz="1700" b="1" dirty="0">
                <a:solidFill>
                  <a:srgbClr val="A78BFA"/>
                </a:solidFill>
                <a:latin typeface="Noto Sans KR" pitchFamily="34" charset="0"/>
                <a:ea typeface="Noto Sans KR" pitchFamily="34" charset="-122"/>
                <a:cs typeface="Noto Sans KR" pitchFamily="34" charset="-120"/>
              </a:rPr>
              <a:t>🔒 ALB-SG</a:t>
            </a:r>
            <a:pPr algn="ctr" indent="0" marL="0">
              <a:buNone/>
            </a:pPr>
            <a:r>
              <a:rPr lang="en-US" sz="1700" dirty="0">
                <a:solidFill>
                  <a:srgbClr val="8B8FB8"/>
                </a:solidFill>
                <a:latin typeface="Noto Sans KR" pitchFamily="34" charset="0"/>
                <a:ea typeface="Noto Sans KR" pitchFamily="34" charset="-122"/>
                <a:cs typeface="Noto Sans KR" pitchFamily="34" charset="-120"/>
              </a:rPr>
              <a:t> (80←인터넷)  →  </a:t>
            </a:r>
            <a:pPr algn="ctr" indent="0" marL="0">
              <a:buNone/>
            </a:pPr>
            <a:r>
              <a:rPr lang="en-US" sz="1700" b="1" dirty="0">
                <a:solidFill>
                  <a:srgbClr val="22D3EE"/>
                </a:solidFill>
                <a:latin typeface="Noto Sans KR" pitchFamily="34" charset="0"/>
                <a:ea typeface="Noto Sans KR" pitchFamily="34" charset="-122"/>
                <a:cs typeface="Noto Sans KR" pitchFamily="34" charset="-120"/>
              </a:rPr>
              <a:t>EC2-SG</a:t>
            </a:r>
            <a:pPr algn="ctr" indent="0" marL="0">
              <a:buNone/>
            </a:pPr>
            <a:r>
              <a:rPr lang="en-US" sz="1700" dirty="0">
                <a:solidFill>
                  <a:srgbClr val="8B8FB8"/>
                </a:solidFill>
                <a:latin typeface="Noto Sans KR" pitchFamily="34" charset="0"/>
                <a:ea typeface="Noto Sans KR" pitchFamily="34" charset="-122"/>
                <a:cs typeface="Noto Sans KR" pitchFamily="34" charset="-120"/>
              </a:rPr>
              <a:t> (3001←ALB만)  →  </a:t>
            </a:r>
            <a:pPr algn="ctr" indent="0" marL="0">
              <a:buNone/>
            </a:pPr>
            <a:r>
              <a:rPr lang="en-US" sz="1700" b="1" dirty="0">
                <a:solidFill>
                  <a:srgbClr val="EF4444"/>
                </a:solidFill>
                <a:latin typeface="Noto Sans KR" pitchFamily="34" charset="0"/>
                <a:ea typeface="Noto Sans KR" pitchFamily="34" charset="-122"/>
                <a:cs typeface="Noto Sans KR" pitchFamily="34" charset="-120"/>
              </a:rPr>
              <a:t>Redis-SG</a:t>
            </a:r>
            <a:pPr algn="ctr" indent="0" marL="0">
              <a:buNone/>
            </a:pPr>
            <a:r>
              <a:rPr lang="en-US" sz="1700" dirty="0">
                <a:solidFill>
                  <a:srgbClr val="8B8FB8"/>
                </a:solidFill>
                <a:latin typeface="Noto Sans KR" pitchFamily="34" charset="0"/>
                <a:ea typeface="Noto Sans KR" pitchFamily="34" charset="-122"/>
                <a:cs typeface="Noto Sans KR" pitchFamily="34" charset="-120"/>
              </a:rPr>
              <a:t> (6379←EC2만)</a:t>
            </a:r>
            <a:endParaRPr lang="en-US" sz="1700" dirty="0"/>
          </a:p>
        </p:txBody>
      </p:sp>
      <p:sp>
        <p:nvSpPr>
          <p:cNvPr id="7" name="Text 4"/>
          <p:cNvSpPr/>
          <p:nvPr/>
        </p:nvSpPr>
        <p:spPr>
          <a:xfrm>
            <a:off x="640080" y="2743200"/>
            <a:ext cx="10972800" cy="4572000"/>
          </a:xfrm>
          <a:prstGeom prst="rect">
            <a:avLst/>
          </a:prstGeom>
          <a:noFill/>
          <a:ln/>
        </p:spPr>
        <p:txBody>
          <a:bodyPr wrap="square" rtlCol="0" anchor="t"/>
          <a:lstStyle/>
          <a:p>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보안 그룹 참조 체인</a:t>
            </a:r>
            <a:pPr indent="0" marL="0">
              <a:lnSpc>
                <a:spcPct val="145000"/>
              </a:lnSpc>
              <a:buNone/>
            </a:pPr>
            <a:r>
              <a:rPr lang="en-US" sz="1350" dirty="0">
                <a:solidFill>
                  <a:srgbClr val="8B8FB8"/>
                </a:solidFill>
                <a:latin typeface="Noto Sans KR" pitchFamily="34" charset="0"/>
                <a:ea typeface="Noto Sans KR" pitchFamily="34" charset="-122"/>
                <a:cs typeface="Noto Sans KR" pitchFamily="34" charset="-120"/>
              </a:rPr>
              <a:t>  — IP가 아닌 SG 참조로 제한. Redis는 인터넷에서 도달 불가</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IAM 역할 3종 분리</a:t>
            </a:r>
            <a:pPr indent="0" marL="0">
              <a:lnSpc>
                <a:spcPct val="145000"/>
              </a:lnSpc>
              <a:buNone/>
            </a:pPr>
            <a:r>
              <a:rPr lang="en-US" sz="1350" dirty="0">
                <a:solidFill>
                  <a:srgbClr val="8B8FB8"/>
                </a:solidFill>
                <a:latin typeface="Noto Sans KR" pitchFamily="34" charset="0"/>
                <a:ea typeface="Noto Sans KR" pitchFamily="34" charset="-122"/>
                <a:cs typeface="Noto Sans KR" pitchFamily="34" charset="-120"/>
              </a:rPr>
              <a:t>  — Task Role(S3 쓰기만) / Execution Role(ECR pull·로그) / Instance Role(ECS 등록)</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IAM 사용자도 최소 권한</a:t>
            </a:r>
            <a:pPr indent="0" marL="0">
              <a:lnSpc>
                <a:spcPct val="145000"/>
              </a:lnSpc>
              <a:buNone/>
            </a:pPr>
            <a:r>
              <a:rPr lang="en-US" sz="1350" dirty="0">
                <a:solidFill>
                  <a:srgbClr val="8B8FB8"/>
                </a:solidFill>
                <a:latin typeface="Noto Sans KR" pitchFamily="34" charset="0"/>
                <a:ea typeface="Noto Sans KR" pitchFamily="34" charset="-122"/>
                <a:cs typeface="Noto Sans KR" pitchFamily="34" charset="-120"/>
              </a:rPr>
              <a:t>  — 필요한 액션만 명시한 정책 파일을 관리하며 점진적으로 요청</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0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00" b="1" dirty="0">
                <a:solidFill>
                  <a:srgbClr val="E7E9FF"/>
                </a:solidFill>
                <a:latin typeface="Noto Sans KR" pitchFamily="34" charset="0"/>
                <a:ea typeface="Noto Sans KR" pitchFamily="34" charset="-122"/>
                <a:cs typeface="Noto Sans KR" pitchFamily="34" charset="-120"/>
              </a:rPr>
              <a:t>예: CreateLoadBalancer의 숨은 의존 권한을 실패 → 분석 → 추가로 해결</a:t>
            </a:r>
            <a:pPr indent="0" marL="0">
              <a:lnSpc>
                <a:spcPct val="145000"/>
              </a:lnSpc>
              <a:buNone/>
            </a:pPr>
            <a:r>
              <a:rPr lang="en-US" sz="1300" dirty="0">
                <a:solidFill>
                  <a:srgbClr val="000000"/>
                </a:solidFill>
                <a:latin typeface="Noto Sans KR" pitchFamily="34" charset="0"/>
                <a:ea typeface="Noto Sans KR" pitchFamily="34" charset="-122"/>
                <a:cs typeface="Noto Sans KR" pitchFamily="34" charset="-120"/>
              </a:rPr>
              <a:t>
</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10 — VERIFICATION</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검증 — "되는 것 같다"가 아니라 증명</a:t>
            </a:r>
            <a:endParaRPr lang="en-US" sz="3000" dirty="0"/>
          </a:p>
        </p:txBody>
      </p:sp>
      <p:sp>
        <p:nvSpPr>
          <p:cNvPr id="5" name="Text 2"/>
          <p:cNvSpPr/>
          <p:nvPr/>
        </p:nvSpPr>
        <p:spPr>
          <a:xfrm>
            <a:off x="640080" y="1645920"/>
            <a:ext cx="10972800" cy="4572000"/>
          </a:xfrm>
          <a:prstGeom prst="rect">
            <a:avLst/>
          </a:prstGeom>
          <a:noFill/>
          <a:ln/>
        </p:spPr>
        <p:txBody>
          <a:bodyPr wrap="square" rtlCol="0" anchor="t"/>
          <a:lstStyle/>
          <a:p>
            <a:pPr indent="0" marL="0">
              <a:lnSpc>
                <a:spcPct val="145000"/>
              </a:lnSpc>
              <a:buNone/>
            </a:pPr>
            <a:r>
              <a:rPr lang="en-US" sz="13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50" b="1" dirty="0">
                <a:solidFill>
                  <a:srgbClr val="E7E9FF"/>
                </a:solidFill>
                <a:latin typeface="Noto Sans KR" pitchFamily="34" charset="0"/>
                <a:ea typeface="Noto Sans KR" pitchFamily="34" charset="-122"/>
                <a:cs typeface="Noto Sans KR" pitchFamily="34" charset="-120"/>
              </a:rPr>
              <a:t>단위/통합 테스트 44개</a:t>
            </a:r>
            <a:pPr indent="0" marL="0">
              <a:lnSpc>
                <a:spcPct val="145000"/>
              </a:lnSpc>
              <a:buNone/>
            </a:pPr>
            <a:r>
              <a:rPr lang="en-US" sz="1400" dirty="0">
                <a:solidFill>
                  <a:srgbClr val="8B8FB8"/>
                </a:solidFill>
                <a:latin typeface="Noto Sans KR" pitchFamily="34" charset="0"/>
                <a:ea typeface="Noto Sans KR" pitchFamily="34" charset="-122"/>
                <a:cs typeface="Noto Sans KR" pitchFamily="34" charset="-120"/>
              </a:rPr>
              <a:t>  — 게임 엔진, Redis 타이머, WS 연결 종료 처리</a:t>
            </a:r>
            <a:pPr indent="0" marL="0">
              <a:lnSpc>
                <a:spcPct val="145000"/>
              </a:lnSpc>
              <a:buNone/>
            </a:pPr>
            <a:r>
              <a:rPr lang="en-US" sz="135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50" b="1" dirty="0">
                <a:solidFill>
                  <a:srgbClr val="E7E9FF"/>
                </a:solidFill>
                <a:latin typeface="Noto Sans KR" pitchFamily="34" charset="0"/>
                <a:ea typeface="Noto Sans KR" pitchFamily="34" charset="-122"/>
                <a:cs typeface="Noto Sans KR" pitchFamily="34" charset="-120"/>
              </a:rPr>
              <a:t>로컬 E2E: 실제 브라우저 4개 자동 조작 → 풀 게임 완주 (Playwright)</a:t>
            </a:r>
            <a:pPr indent="0" marL="0">
              <a:lnSpc>
                <a:spcPct val="145000"/>
              </a:lnSpc>
              <a:buNone/>
            </a:pPr>
            <a:r>
              <a:rPr lang="en-US" sz="135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50" b="1" dirty="0">
                <a:solidFill>
                  <a:srgbClr val="E7E9FF"/>
                </a:solidFill>
                <a:latin typeface="Noto Sans KR" pitchFamily="34" charset="0"/>
                <a:ea typeface="Noto Sans KR" pitchFamily="34" charset="-122"/>
                <a:cs typeface="Noto Sans KR" pitchFamily="34" charset="-120"/>
              </a:rPr>
              <a:t>프로덕션 E2E: ALB 경유 4클라이언트 → 멀티 태스크 분산 환경에서 쇼다운까지</a:t>
            </a:r>
            <a:pPr indent="0" marL="0">
              <a:lnSpc>
                <a:spcPct val="145000"/>
              </a:lnSpc>
              <a:buNone/>
            </a:pPr>
            <a:r>
              <a:rPr lang="en-US" sz="135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3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650" b="1" dirty="0">
                <a:solidFill>
                  <a:srgbClr val="E7E9FF"/>
                </a:solidFill>
                <a:latin typeface="Noto Sans KR" pitchFamily="34" charset="0"/>
                <a:ea typeface="Noto Sans KR" pitchFamily="34" charset="-122"/>
                <a:cs typeface="Noto Sans KR" pitchFamily="34" charset="-120"/>
              </a:rPr>
              <a:t>ALB 헬스체크 OK · 타깃 2/2 healthy · 롤링 배포 무중단 확인</a:t>
            </a:r>
            <a:pPr indent="0" marL="0">
              <a:lnSpc>
                <a:spcPct val="145000"/>
              </a:lnSpc>
              <a:buNone/>
            </a:pPr>
            <a:r>
              <a:rPr lang="en-US" sz="1350" dirty="0">
                <a:solidFill>
                  <a:srgbClr val="000000"/>
                </a:solidFill>
                <a:latin typeface="Noto Sans KR" pitchFamily="34" charset="0"/>
                <a:ea typeface="Noto Sans KR" pitchFamily="34" charset="-122"/>
                <a:cs typeface="Noto Sans KR" pitchFamily="34" charset="-120"/>
              </a:rPr>
              <a:t>
</a:t>
            </a:r>
            <a:endParaRPr lang="en-US" sz="1350" dirty="0"/>
          </a:p>
        </p:txBody>
      </p:sp>
      <p:sp>
        <p:nvSpPr>
          <p:cNvPr id="6" name="Shape 3"/>
          <p:cNvSpPr/>
          <p:nvPr/>
        </p:nvSpPr>
        <p:spPr>
          <a:xfrm>
            <a:off x="640080" y="4480560"/>
            <a:ext cx="10972800" cy="1737360"/>
          </a:xfrm>
          <a:prstGeom prst="roundRect">
            <a:avLst>
              <a:gd name="adj" fmla="val 6316"/>
            </a:avLst>
          </a:prstGeom>
          <a:solidFill>
            <a:srgbClr val="111120"/>
          </a:solidFill>
          <a:ln w="12700">
            <a:solidFill>
              <a:srgbClr val="F59E0B"/>
            </a:solidFill>
            <a:prstDash val="solid"/>
          </a:ln>
        </p:spPr>
      </p:sp>
      <p:sp>
        <p:nvSpPr>
          <p:cNvPr id="7" name="Text 4"/>
          <p:cNvSpPr/>
          <p:nvPr/>
        </p:nvSpPr>
        <p:spPr>
          <a:xfrm>
            <a:off x="868680" y="4617720"/>
            <a:ext cx="10515600" cy="365760"/>
          </a:xfrm>
          <a:prstGeom prst="rect">
            <a:avLst/>
          </a:prstGeom>
          <a:noFill/>
          <a:ln/>
        </p:spPr>
        <p:txBody>
          <a:bodyPr wrap="square" rtlCol="0" anchor="ctr"/>
          <a:lstStyle/>
          <a:p>
            <a:pPr indent="0" marL="0">
              <a:buNone/>
            </a:pPr>
            <a:r>
              <a:rPr lang="en-US" sz="1300" b="1" spc="200" kern="0" dirty="0">
                <a:solidFill>
                  <a:srgbClr val="F59E0B"/>
                </a:solidFill>
                <a:latin typeface="Noto Sans KR" pitchFamily="34" charset="0"/>
                <a:ea typeface="Noto Sans KR" pitchFamily="34" charset="-122"/>
                <a:cs typeface="Noto Sans KR" pitchFamily="34" charset="-120"/>
              </a:rPr>
              <a:t>TDD로 잡은 실제 버그들</a:t>
            </a:r>
            <a:endParaRPr lang="en-US" sz="1300" dirty="0"/>
          </a:p>
        </p:txBody>
      </p:sp>
      <p:sp>
        <p:nvSpPr>
          <p:cNvPr id="8" name="Text 5"/>
          <p:cNvSpPr/>
          <p:nvPr/>
        </p:nvSpPr>
        <p:spPr>
          <a:xfrm>
            <a:off x="868680" y="4983480"/>
            <a:ext cx="10515600" cy="105156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베팅 라운드 종료 판정 누락(게임이 플랍을 못 봄) · 턴 타이머 TTL이 deadline과 동시 만료(auto-fold 불능) · 쇼다운 키커 무시(A페어=K페어 무승부) · 연결 끊김 시 유령 방 잔류</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11 — DEMO (SCREENSHOTS)</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게임 플레이</a:t>
            </a:r>
            <a:endParaRPr lang="en-US" sz="3000" dirty="0"/>
          </a:p>
        </p:txBody>
      </p:sp>
      <p:pic>
        <p:nvPicPr>
          <p:cNvPr id="5" name="Image 0" descr="/home/dakori/github/cloud_holdem/docs/presentation/assets/lobby.png">    </p:cNvPr>
          <p:cNvPicPr>
            <a:picLocks noChangeAspect="1"/>
          </p:cNvPicPr>
          <p:nvPr/>
        </p:nvPicPr>
        <p:blipFill>
          <a:blip r:embed="rId1"/>
          <a:stretch>
            <a:fillRect/>
          </a:stretch>
        </p:blipFill>
        <p:spPr>
          <a:xfrm>
            <a:off x="640080" y="1554480"/>
            <a:ext cx="5394960" cy="4639666"/>
          </a:xfrm>
          <a:prstGeom prst="rect">
            <a:avLst/>
          </a:prstGeom>
        </p:spPr>
      </p:pic>
      <p:pic>
        <p:nvPicPr>
          <p:cNvPr id="6" name="Image 1" descr="/home/dakori/github/cloud_holdem/docs/presentation/assets/game-table.png">    </p:cNvPr>
          <p:cNvPicPr>
            <a:picLocks noChangeAspect="1"/>
          </p:cNvPicPr>
          <p:nvPr/>
        </p:nvPicPr>
        <p:blipFill>
          <a:blip r:embed="rId2"/>
          <a:stretch>
            <a:fillRect/>
          </a:stretch>
        </p:blipFill>
        <p:spPr>
          <a:xfrm>
            <a:off x="6309360" y="1554480"/>
            <a:ext cx="5074920" cy="4653702"/>
          </a:xfrm>
          <a:prstGeom prst="rect">
            <a:avLst/>
          </a:prstGeom>
        </p:spPr>
      </p:pic>
      <p:sp>
        <p:nvSpPr>
          <p:cNvPr id="7" name="Text 2"/>
          <p:cNvSpPr/>
          <p:nvPr/>
        </p:nvSpPr>
        <p:spPr>
          <a:xfrm>
            <a:off x="640080" y="6400800"/>
            <a:ext cx="10972800" cy="365760"/>
          </a:xfrm>
          <a:prstGeom prst="rect">
            <a:avLst/>
          </a:prstGeom>
          <a:noFill/>
          <a:ln/>
        </p:spPr>
        <p:txBody>
          <a:bodyPr wrap="square" rtlCol="0" anchor="ctr"/>
          <a:lstStyle/>
          <a:p>
            <a:pPr algn="ctr" indent="0" marL="0">
              <a:buNone/>
            </a:pPr>
            <a:r>
              <a:rPr lang="en-US" sz="1300" dirty="0">
                <a:solidFill>
                  <a:srgbClr val="8B8FB8"/>
                </a:solidFill>
                <a:latin typeface="Noto Sans KR" pitchFamily="34" charset="0"/>
                <a:ea typeface="Noto Sans KR" pitchFamily="34" charset="-122"/>
                <a:cs typeface="Noto Sans KR" pitchFamily="34" charset="-120"/>
              </a:rPr>
              <a:t>로비(방 생성/입장) → 4인 자동 시작 → 블라인드/베팅 → 쇼다운 → 칩 정산 후 다음 핸드</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11 — LIVE DEMO</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라이브 데모 🔴</a:t>
            </a:r>
            <a:endParaRPr lang="en-US" sz="3000" dirty="0"/>
          </a:p>
        </p:txBody>
      </p:sp>
      <p:sp>
        <p:nvSpPr>
          <p:cNvPr id="5" name="Shape 2"/>
          <p:cNvSpPr/>
          <p:nvPr/>
        </p:nvSpPr>
        <p:spPr>
          <a:xfrm>
            <a:off x="640080" y="1600200"/>
            <a:ext cx="457200" cy="457200"/>
          </a:xfrm>
          <a:prstGeom prst="ellipse">
            <a:avLst/>
          </a:prstGeom>
          <a:solidFill>
            <a:srgbClr val="7C3AED"/>
          </a:solidFill>
          <a:ln/>
        </p:spPr>
      </p:sp>
      <p:sp>
        <p:nvSpPr>
          <p:cNvPr id="6" name="Text 3"/>
          <p:cNvSpPr/>
          <p:nvPr/>
        </p:nvSpPr>
        <p:spPr>
          <a:xfrm>
            <a:off x="640080" y="1600200"/>
            <a:ext cx="457200" cy="457200"/>
          </a:xfrm>
          <a:prstGeom prst="rect">
            <a:avLst/>
          </a:prstGeom>
          <a:noFill/>
          <a:ln/>
        </p:spPr>
        <p:txBody>
          <a:bodyPr wrap="square" rtlCol="0" anchor="ctr"/>
          <a:lstStyle/>
          <a:p>
            <a:pPr algn="ctr" indent="0" marL="0">
              <a:buNone/>
            </a:pPr>
            <a:r>
              <a:rPr lang="en-US" sz="1500" b="1" dirty="0">
                <a:solidFill>
                  <a:srgbClr val="FFFFFF"/>
                </a:solidFill>
              </a:rPr>
              <a:t>1</a:t>
            </a:r>
            <a:endParaRPr lang="en-US" sz="1500" dirty="0"/>
          </a:p>
        </p:txBody>
      </p:sp>
      <p:sp>
        <p:nvSpPr>
          <p:cNvPr id="7" name="Text 4"/>
          <p:cNvSpPr/>
          <p:nvPr/>
        </p:nvSpPr>
        <p:spPr>
          <a:xfrm>
            <a:off x="1280160" y="1600200"/>
            <a:ext cx="5120640" cy="548640"/>
          </a:xfrm>
          <a:prstGeom prst="rect">
            <a:avLst/>
          </a:prstGeom>
          <a:noFill/>
          <a:ln/>
        </p:spPr>
        <p:txBody>
          <a:bodyPr wrap="square" rtlCol="0" anchor="ctr"/>
          <a:lstStyle/>
          <a:p>
            <a:pPr indent="0" marL="0">
              <a:buNone/>
            </a:pPr>
            <a:r>
              <a:rPr lang="en-US" sz="1550" dirty="0">
                <a:solidFill>
                  <a:srgbClr val="E7E9FF"/>
                </a:solidFill>
                <a:latin typeface="Noto Sans KR" pitchFamily="34" charset="0"/>
                <a:ea typeface="Noto Sans KR" pitchFamily="34" charset="-122"/>
                <a:cs typeface="Noto Sans KR" pitchFamily="34" charset="-120"/>
              </a:rPr>
              <a:t>브라우저 탭 4개로 접속 (시크릿 창 혼용)</a:t>
            </a:r>
            <a:endParaRPr lang="en-US" sz="1550" dirty="0"/>
          </a:p>
        </p:txBody>
      </p:sp>
      <p:sp>
        <p:nvSpPr>
          <p:cNvPr id="8" name="Shape 5"/>
          <p:cNvSpPr/>
          <p:nvPr/>
        </p:nvSpPr>
        <p:spPr>
          <a:xfrm>
            <a:off x="640080" y="2350008"/>
            <a:ext cx="457200" cy="457200"/>
          </a:xfrm>
          <a:prstGeom prst="ellipse">
            <a:avLst/>
          </a:prstGeom>
          <a:solidFill>
            <a:srgbClr val="7C3AED"/>
          </a:solidFill>
          <a:ln/>
        </p:spPr>
      </p:sp>
      <p:sp>
        <p:nvSpPr>
          <p:cNvPr id="9" name="Text 6"/>
          <p:cNvSpPr/>
          <p:nvPr/>
        </p:nvSpPr>
        <p:spPr>
          <a:xfrm>
            <a:off x="640080" y="2350008"/>
            <a:ext cx="457200" cy="457200"/>
          </a:xfrm>
          <a:prstGeom prst="rect">
            <a:avLst/>
          </a:prstGeom>
          <a:noFill/>
          <a:ln/>
        </p:spPr>
        <p:txBody>
          <a:bodyPr wrap="square" rtlCol="0" anchor="ctr"/>
          <a:lstStyle/>
          <a:p>
            <a:pPr algn="ctr" indent="0" marL="0">
              <a:buNone/>
            </a:pPr>
            <a:r>
              <a:rPr lang="en-US" sz="1500" b="1" dirty="0">
                <a:solidFill>
                  <a:srgbClr val="FFFFFF"/>
                </a:solidFill>
              </a:rPr>
              <a:t>2</a:t>
            </a:r>
            <a:endParaRPr lang="en-US" sz="1500" dirty="0"/>
          </a:p>
        </p:txBody>
      </p:sp>
      <p:sp>
        <p:nvSpPr>
          <p:cNvPr id="10" name="Text 7"/>
          <p:cNvSpPr/>
          <p:nvPr/>
        </p:nvSpPr>
        <p:spPr>
          <a:xfrm>
            <a:off x="1280160" y="2350008"/>
            <a:ext cx="5120640" cy="548640"/>
          </a:xfrm>
          <a:prstGeom prst="rect">
            <a:avLst/>
          </a:prstGeom>
          <a:noFill/>
          <a:ln/>
        </p:spPr>
        <p:txBody>
          <a:bodyPr wrap="square" rtlCol="0" anchor="ctr"/>
          <a:lstStyle/>
          <a:p>
            <a:pPr indent="0" marL="0">
              <a:buNone/>
            </a:pPr>
            <a:r>
              <a:rPr lang="en-US" sz="1550" dirty="0">
                <a:solidFill>
                  <a:srgbClr val="E7E9FF"/>
                </a:solidFill>
                <a:latin typeface="Noto Sans KR" pitchFamily="34" charset="0"/>
                <a:ea typeface="Noto Sans KR" pitchFamily="34" charset="-122"/>
                <a:cs typeface="Noto Sans KR" pitchFamily="34" charset="-120"/>
              </a:rPr>
              <a:t>탭1: 닉네임 입력 → 방 만들기</a:t>
            </a:r>
            <a:endParaRPr lang="en-US" sz="1550" dirty="0"/>
          </a:p>
        </p:txBody>
      </p:sp>
      <p:sp>
        <p:nvSpPr>
          <p:cNvPr id="11" name="Shape 8"/>
          <p:cNvSpPr/>
          <p:nvPr/>
        </p:nvSpPr>
        <p:spPr>
          <a:xfrm>
            <a:off x="640080" y="3099816"/>
            <a:ext cx="457200" cy="457200"/>
          </a:xfrm>
          <a:prstGeom prst="ellipse">
            <a:avLst/>
          </a:prstGeom>
          <a:solidFill>
            <a:srgbClr val="7C3AED"/>
          </a:solidFill>
          <a:ln/>
        </p:spPr>
      </p:sp>
      <p:sp>
        <p:nvSpPr>
          <p:cNvPr id="12" name="Text 9"/>
          <p:cNvSpPr/>
          <p:nvPr/>
        </p:nvSpPr>
        <p:spPr>
          <a:xfrm>
            <a:off x="640080" y="3099816"/>
            <a:ext cx="457200" cy="457200"/>
          </a:xfrm>
          <a:prstGeom prst="rect">
            <a:avLst/>
          </a:prstGeom>
          <a:noFill/>
          <a:ln/>
        </p:spPr>
        <p:txBody>
          <a:bodyPr wrap="square" rtlCol="0" anchor="ctr"/>
          <a:lstStyle/>
          <a:p>
            <a:pPr algn="ctr" indent="0" marL="0">
              <a:buNone/>
            </a:pPr>
            <a:r>
              <a:rPr lang="en-US" sz="1500" b="1" dirty="0">
                <a:solidFill>
                  <a:srgbClr val="FFFFFF"/>
                </a:solidFill>
              </a:rPr>
              <a:t>3</a:t>
            </a:r>
            <a:endParaRPr lang="en-US" sz="1500" dirty="0"/>
          </a:p>
        </p:txBody>
      </p:sp>
      <p:sp>
        <p:nvSpPr>
          <p:cNvPr id="13" name="Text 10"/>
          <p:cNvSpPr/>
          <p:nvPr/>
        </p:nvSpPr>
        <p:spPr>
          <a:xfrm>
            <a:off x="1280160" y="3099816"/>
            <a:ext cx="5120640" cy="548640"/>
          </a:xfrm>
          <a:prstGeom prst="rect">
            <a:avLst/>
          </a:prstGeom>
          <a:noFill/>
          <a:ln/>
        </p:spPr>
        <p:txBody>
          <a:bodyPr wrap="square" rtlCol="0" anchor="ctr"/>
          <a:lstStyle/>
          <a:p>
            <a:pPr indent="0" marL="0">
              <a:buNone/>
            </a:pPr>
            <a:r>
              <a:rPr lang="en-US" sz="1550" dirty="0">
                <a:solidFill>
                  <a:srgbClr val="E7E9FF"/>
                </a:solidFill>
                <a:latin typeface="Noto Sans KR" pitchFamily="34" charset="0"/>
                <a:ea typeface="Noto Sans KR" pitchFamily="34" charset="-122"/>
                <a:cs typeface="Noto Sans KR" pitchFamily="34" charset="-120"/>
              </a:rPr>
              <a:t>탭2~4: 같은 방 입장 → 5초 카운트다운</a:t>
            </a:r>
            <a:endParaRPr lang="en-US" sz="1550" dirty="0"/>
          </a:p>
        </p:txBody>
      </p:sp>
      <p:sp>
        <p:nvSpPr>
          <p:cNvPr id="14" name="Shape 11"/>
          <p:cNvSpPr/>
          <p:nvPr/>
        </p:nvSpPr>
        <p:spPr>
          <a:xfrm>
            <a:off x="640080" y="3849624"/>
            <a:ext cx="457200" cy="457200"/>
          </a:xfrm>
          <a:prstGeom prst="ellipse">
            <a:avLst/>
          </a:prstGeom>
          <a:solidFill>
            <a:srgbClr val="7C3AED"/>
          </a:solidFill>
          <a:ln/>
        </p:spPr>
      </p:sp>
      <p:sp>
        <p:nvSpPr>
          <p:cNvPr id="15" name="Text 12"/>
          <p:cNvSpPr/>
          <p:nvPr/>
        </p:nvSpPr>
        <p:spPr>
          <a:xfrm>
            <a:off x="640080" y="3849624"/>
            <a:ext cx="457200" cy="457200"/>
          </a:xfrm>
          <a:prstGeom prst="rect">
            <a:avLst/>
          </a:prstGeom>
          <a:noFill/>
          <a:ln/>
        </p:spPr>
        <p:txBody>
          <a:bodyPr wrap="square" rtlCol="0" anchor="ctr"/>
          <a:lstStyle/>
          <a:p>
            <a:pPr algn="ctr" indent="0" marL="0">
              <a:buNone/>
            </a:pPr>
            <a:r>
              <a:rPr lang="en-US" sz="1500" b="1" dirty="0">
                <a:solidFill>
                  <a:srgbClr val="FFFFFF"/>
                </a:solidFill>
              </a:rPr>
              <a:t>4</a:t>
            </a:r>
            <a:endParaRPr lang="en-US" sz="1500" dirty="0"/>
          </a:p>
        </p:txBody>
      </p:sp>
      <p:sp>
        <p:nvSpPr>
          <p:cNvPr id="16" name="Text 13"/>
          <p:cNvSpPr/>
          <p:nvPr/>
        </p:nvSpPr>
        <p:spPr>
          <a:xfrm>
            <a:off x="1280160" y="3849624"/>
            <a:ext cx="5120640" cy="548640"/>
          </a:xfrm>
          <a:prstGeom prst="rect">
            <a:avLst/>
          </a:prstGeom>
          <a:noFill/>
          <a:ln/>
        </p:spPr>
        <p:txBody>
          <a:bodyPr wrap="square" rtlCol="0" anchor="ctr"/>
          <a:lstStyle/>
          <a:p>
            <a:pPr indent="0" marL="0">
              <a:buNone/>
            </a:pPr>
            <a:r>
              <a:rPr lang="en-US" sz="1550" dirty="0">
                <a:solidFill>
                  <a:srgbClr val="E7E9FF"/>
                </a:solidFill>
                <a:latin typeface="Noto Sans KR" pitchFamily="34" charset="0"/>
                <a:ea typeface="Noto Sans KR" pitchFamily="34" charset="-122"/>
                <a:cs typeface="Noto Sans KR" pitchFamily="34" charset="-120"/>
              </a:rPr>
              <a:t>베팅 한 바퀴 (콜/체크로 빠르게) → 플랍 공개</a:t>
            </a:r>
            <a:endParaRPr lang="en-US" sz="1550" dirty="0"/>
          </a:p>
        </p:txBody>
      </p:sp>
      <p:sp>
        <p:nvSpPr>
          <p:cNvPr id="17" name="Shape 14"/>
          <p:cNvSpPr/>
          <p:nvPr/>
        </p:nvSpPr>
        <p:spPr>
          <a:xfrm>
            <a:off x="640080" y="4599432"/>
            <a:ext cx="457200" cy="457200"/>
          </a:xfrm>
          <a:prstGeom prst="ellipse">
            <a:avLst/>
          </a:prstGeom>
          <a:solidFill>
            <a:srgbClr val="7C3AED"/>
          </a:solidFill>
          <a:ln/>
        </p:spPr>
      </p:sp>
      <p:sp>
        <p:nvSpPr>
          <p:cNvPr id="18" name="Text 15"/>
          <p:cNvSpPr/>
          <p:nvPr/>
        </p:nvSpPr>
        <p:spPr>
          <a:xfrm>
            <a:off x="640080" y="4599432"/>
            <a:ext cx="457200" cy="457200"/>
          </a:xfrm>
          <a:prstGeom prst="rect">
            <a:avLst/>
          </a:prstGeom>
          <a:noFill/>
          <a:ln/>
        </p:spPr>
        <p:txBody>
          <a:bodyPr wrap="square" rtlCol="0" anchor="ctr"/>
          <a:lstStyle/>
          <a:p>
            <a:pPr algn="ctr" indent="0" marL="0">
              <a:buNone/>
            </a:pPr>
            <a:r>
              <a:rPr lang="en-US" sz="1500" b="1" dirty="0">
                <a:solidFill>
                  <a:srgbClr val="FFFFFF"/>
                </a:solidFill>
              </a:rPr>
              <a:t>5</a:t>
            </a:r>
            <a:endParaRPr lang="en-US" sz="1500" dirty="0"/>
          </a:p>
        </p:txBody>
      </p:sp>
      <p:sp>
        <p:nvSpPr>
          <p:cNvPr id="19" name="Text 16"/>
          <p:cNvSpPr/>
          <p:nvPr/>
        </p:nvSpPr>
        <p:spPr>
          <a:xfrm>
            <a:off x="1280160" y="4599432"/>
            <a:ext cx="5120640" cy="548640"/>
          </a:xfrm>
          <a:prstGeom prst="rect">
            <a:avLst/>
          </a:prstGeom>
          <a:noFill/>
          <a:ln/>
        </p:spPr>
        <p:txBody>
          <a:bodyPr wrap="square" rtlCol="0" anchor="ctr"/>
          <a:lstStyle/>
          <a:p>
            <a:pPr indent="0" marL="0">
              <a:buNone/>
            </a:pPr>
            <a:r>
              <a:rPr lang="en-US" sz="1550" dirty="0">
                <a:solidFill>
                  <a:srgbClr val="E7E9FF"/>
                </a:solidFill>
                <a:latin typeface="Noto Sans KR" pitchFamily="34" charset="0"/>
                <a:ea typeface="Noto Sans KR" pitchFamily="34" charset="-122"/>
                <a:cs typeface="Noto Sans KR" pitchFamily="34" charset="-120"/>
              </a:rPr>
              <a:t>탭 하나 방치 → 20초 auto-fold 시연</a:t>
            </a:r>
            <a:endParaRPr lang="en-US" sz="1550" dirty="0"/>
          </a:p>
        </p:txBody>
      </p:sp>
      <p:sp>
        <p:nvSpPr>
          <p:cNvPr id="20" name="Shape 17"/>
          <p:cNvSpPr/>
          <p:nvPr/>
        </p:nvSpPr>
        <p:spPr>
          <a:xfrm>
            <a:off x="640080" y="5349240"/>
            <a:ext cx="457200" cy="457200"/>
          </a:xfrm>
          <a:prstGeom prst="ellipse">
            <a:avLst/>
          </a:prstGeom>
          <a:solidFill>
            <a:srgbClr val="7C3AED"/>
          </a:solidFill>
          <a:ln/>
        </p:spPr>
      </p:sp>
      <p:sp>
        <p:nvSpPr>
          <p:cNvPr id="21" name="Text 18"/>
          <p:cNvSpPr/>
          <p:nvPr/>
        </p:nvSpPr>
        <p:spPr>
          <a:xfrm>
            <a:off x="640080" y="5349240"/>
            <a:ext cx="457200" cy="457200"/>
          </a:xfrm>
          <a:prstGeom prst="rect">
            <a:avLst/>
          </a:prstGeom>
          <a:noFill/>
          <a:ln/>
        </p:spPr>
        <p:txBody>
          <a:bodyPr wrap="square" rtlCol="0" anchor="ctr"/>
          <a:lstStyle/>
          <a:p>
            <a:pPr algn="ctr" indent="0" marL="0">
              <a:buNone/>
            </a:pPr>
            <a:r>
              <a:rPr lang="en-US" sz="1500" b="1" dirty="0">
                <a:solidFill>
                  <a:srgbClr val="FFFFFF"/>
                </a:solidFill>
              </a:rPr>
              <a:t>6</a:t>
            </a:r>
            <a:endParaRPr lang="en-US" sz="1500" dirty="0"/>
          </a:p>
        </p:txBody>
      </p:sp>
      <p:sp>
        <p:nvSpPr>
          <p:cNvPr id="22" name="Text 19"/>
          <p:cNvSpPr/>
          <p:nvPr/>
        </p:nvSpPr>
        <p:spPr>
          <a:xfrm>
            <a:off x="1280160" y="5349240"/>
            <a:ext cx="5120640" cy="548640"/>
          </a:xfrm>
          <a:prstGeom prst="rect">
            <a:avLst/>
          </a:prstGeom>
          <a:noFill/>
          <a:ln/>
        </p:spPr>
        <p:txBody>
          <a:bodyPr wrap="square" rtlCol="0" anchor="ctr"/>
          <a:lstStyle/>
          <a:p>
            <a:pPr indent="0" marL="0">
              <a:buNone/>
            </a:pPr>
            <a:r>
              <a:rPr lang="en-US" sz="1550" dirty="0">
                <a:solidFill>
                  <a:srgbClr val="E7E9FF"/>
                </a:solidFill>
                <a:latin typeface="Noto Sans KR" pitchFamily="34" charset="0"/>
                <a:ea typeface="Noto Sans KR" pitchFamily="34" charset="-122"/>
                <a:cs typeface="Noto Sans KR" pitchFamily="34" charset="-120"/>
              </a:rPr>
              <a:t>쇼다운 → 칩 정산 → 다음 핸드 자동 시작</a:t>
            </a:r>
            <a:endParaRPr lang="en-US" sz="1550" dirty="0"/>
          </a:p>
        </p:txBody>
      </p:sp>
      <p:sp>
        <p:nvSpPr>
          <p:cNvPr id="23" name="Shape 20"/>
          <p:cNvSpPr/>
          <p:nvPr/>
        </p:nvSpPr>
        <p:spPr>
          <a:xfrm>
            <a:off x="6766560" y="1600200"/>
            <a:ext cx="4846320" cy="4480560"/>
          </a:xfrm>
          <a:prstGeom prst="roundRect">
            <a:avLst>
              <a:gd name="adj" fmla="val 2449"/>
            </a:avLst>
          </a:prstGeom>
          <a:solidFill>
            <a:srgbClr val="111120"/>
          </a:solidFill>
          <a:ln w="12700">
            <a:solidFill>
              <a:srgbClr val="22D3EE"/>
            </a:solidFill>
            <a:prstDash val="solid"/>
          </a:ln>
        </p:spPr>
      </p:sp>
      <p:sp>
        <p:nvSpPr>
          <p:cNvPr id="24" name="Text 21"/>
          <p:cNvSpPr/>
          <p:nvPr/>
        </p:nvSpPr>
        <p:spPr>
          <a:xfrm>
            <a:off x="6995160" y="1737360"/>
            <a:ext cx="4389120" cy="365760"/>
          </a:xfrm>
          <a:prstGeom prst="rect">
            <a:avLst/>
          </a:prstGeom>
          <a:noFill/>
          <a:ln/>
        </p:spPr>
        <p:txBody>
          <a:bodyPr wrap="square" rtlCol="0" anchor="ctr"/>
          <a:lstStyle/>
          <a:p>
            <a:pPr indent="0" marL="0">
              <a:buNone/>
            </a:pPr>
            <a:r>
              <a:rPr lang="en-US" sz="1300" b="1" spc="200" kern="0" dirty="0">
                <a:solidFill>
                  <a:srgbClr val="22D3EE"/>
                </a:solidFill>
                <a:latin typeface="Noto Sans KR" pitchFamily="34" charset="0"/>
                <a:ea typeface="Noto Sans KR" pitchFamily="34" charset="-122"/>
                <a:cs typeface="Noto Sans KR" pitchFamily="34" charset="-120"/>
              </a:rPr>
              <a:t>접속 주소 &amp; 체크리스트</a:t>
            </a:r>
            <a:endParaRPr lang="en-US" sz="1300" dirty="0"/>
          </a:p>
        </p:txBody>
      </p:sp>
      <p:sp>
        <p:nvSpPr>
          <p:cNvPr id="25" name="Text 22"/>
          <p:cNvSpPr/>
          <p:nvPr/>
        </p:nvSpPr>
        <p:spPr>
          <a:xfrm>
            <a:off x="6995160" y="2103120"/>
            <a:ext cx="4389120" cy="3794760"/>
          </a:xfrm>
          <a:prstGeom prst="rect">
            <a:avLst/>
          </a:prstGeom>
          <a:noFill/>
          <a:ln/>
        </p:spPr>
        <p:txBody>
          <a:bodyPr wrap="square" rtlCol="0" anchor="t"/>
          <a:lstStyle/>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http://holdem-client-026951011097.s3-website.ap-northeast-2.amazonaws.com</a:t>
            </a:r>
            <a:endParaRPr lang="en-US" sz="1450" dirty="0"/>
          </a:p>
          <a:p>
            <a:pPr indent="0" marL="0">
              <a:lnSpc>
                <a:spcPct val="135000"/>
              </a:lnSpc>
              <a:buNone/>
            </a:pP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(백업: 로컬 데모 — localhost:5173)</a:t>
            </a:r>
            <a:endParaRPr lang="en-US" sz="1450" dirty="0"/>
          </a:p>
          <a:p>
            <a:pPr indent="0" marL="0">
              <a:lnSpc>
                <a:spcPct val="135000"/>
              </a:lnSpc>
              <a:buNone/>
            </a:pP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발표 전 체크리스트</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ASG desired 2로 켜두기 (~5분)</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ALB 헬스체크 green 확인</a:t>
            </a:r>
            <a:endParaRPr lang="en-US" sz="1450" dirty="0"/>
          </a:p>
          <a:p>
            <a:pPr indent="0" marL="0">
              <a:lnSpc>
                <a:spcPct val="135000"/>
              </a:lnSpc>
              <a:buNone/>
            </a:pPr>
            <a:r>
              <a:rPr lang="en-US" sz="1450" dirty="0">
                <a:solidFill>
                  <a:srgbClr val="E7E9FF"/>
                </a:solidFill>
                <a:latin typeface="Noto Sans KR" pitchFamily="34" charset="0"/>
                <a:ea typeface="Noto Sans KR" pitchFamily="34" charset="-122"/>
                <a:cs typeface="Noto Sans KR" pitchFamily="34" charset="-120"/>
              </a:rPr>
              <a:t>• 프론트 S3 배포 완료 확인</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16"/>
        </a:solidFill>
      </p:bgPr>
    </p:bg>
    <p:spTree>
      <p:nvGrpSpPr>
        <p:cNvPr id="1" name=""/>
        <p:cNvGrpSpPr/>
        <p:nvPr/>
      </p:nvGrpSpPr>
      <p:grpSpPr>
        <a:xfrm>
          <a:off x="0" y="0"/>
          <a:ext cx="0" cy="0"/>
          <a:chOff x="0" y="0"/>
          <a:chExt cx="0" cy="0"/>
        </a:xfrm>
      </p:grpSpPr>
      <p:sp>
        <p:nvSpPr>
          <p:cNvPr id="3" name="Text 0"/>
          <p:cNvSpPr/>
          <p:nvPr/>
        </p:nvSpPr>
        <p:spPr>
          <a:xfrm>
            <a:off x="640080" y="320040"/>
            <a:ext cx="10058400" cy="365760"/>
          </a:xfrm>
          <a:prstGeom prst="rect">
            <a:avLst/>
          </a:prstGeom>
          <a:noFill/>
          <a:ln/>
        </p:spPr>
        <p:txBody>
          <a:bodyPr wrap="square" rtlCol="0" anchor="ctr"/>
          <a:lstStyle/>
          <a:p>
            <a:pPr indent="0" marL="0">
              <a:buNone/>
            </a:pPr>
            <a:r>
              <a:rPr lang="en-US" sz="1300" b="1" spc="400" kern="0" dirty="0">
                <a:solidFill>
                  <a:srgbClr val="22D3EE"/>
                </a:solidFill>
                <a:latin typeface="Noto Sans KR" pitchFamily="34" charset="0"/>
                <a:ea typeface="Noto Sans KR" pitchFamily="34" charset="-122"/>
                <a:cs typeface="Noto Sans KR" pitchFamily="34" charset="-120"/>
              </a:rPr>
              <a:t>12 — COST &amp; LESSONS</a:t>
            </a:r>
            <a:endParaRPr lang="en-US" sz="1300" dirty="0"/>
          </a:p>
        </p:txBody>
      </p:sp>
      <p:sp>
        <p:nvSpPr>
          <p:cNvPr id="4" name="Text 1"/>
          <p:cNvSpPr/>
          <p:nvPr/>
        </p:nvSpPr>
        <p:spPr>
          <a:xfrm>
            <a:off x="640080" y="685800"/>
            <a:ext cx="10972800" cy="731520"/>
          </a:xfrm>
          <a:prstGeom prst="rect">
            <a:avLst/>
          </a:prstGeom>
          <a:noFill/>
          <a:ln/>
        </p:spPr>
        <p:txBody>
          <a:bodyPr wrap="square" rtlCol="0" anchor="ctr"/>
          <a:lstStyle/>
          <a:p>
            <a:pPr indent="0" marL="0">
              <a:buNone/>
            </a:pPr>
            <a:r>
              <a:rPr lang="en-US" sz="3000" b="1" dirty="0">
                <a:solidFill>
                  <a:srgbClr val="E7E9FF"/>
                </a:solidFill>
                <a:latin typeface="Noto Sans KR" pitchFamily="34" charset="0"/>
                <a:ea typeface="Noto Sans KR" pitchFamily="34" charset="-122"/>
                <a:cs typeface="Noto Sans KR" pitchFamily="34" charset="-120"/>
              </a:rPr>
              <a:t>비용과 배운 점</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5394960" cy="914400"/>
        </p:xfrm>
        <a:graphic>
          <a:graphicData uri="http://schemas.openxmlformats.org/drawingml/2006/table">
            <a:tbl>
              <a:tblPr/>
              <a:tblGrid>
                <a:gridCol w="1798320"/>
                <a:gridCol w="1798320"/>
                <a:gridCol w="1798320"/>
              </a:tblGrid>
              <a:tr h="502920">
                <a:tc>
                  <a:txBody>
                    <a:bodyPr/>
                    <a:lstStyle/>
                    <a:p>
                      <a:pPr indent="0" marL="0">
                        <a:buNone/>
                      </a:pPr>
                      <a:r>
                        <a:rPr lang="en-US" sz="1400" b="1" dirty="0">
                          <a:solidFill>
                            <a:srgbClr val="A78BFA"/>
                          </a:solidFill>
                          <a:latin typeface="Noto Sans KR" pitchFamily="34" charset="0"/>
                          <a:ea typeface="Noto Sans KR" pitchFamily="34" charset="-122"/>
                          <a:cs typeface="Noto Sans KR" pitchFamily="34" charset="-120"/>
                        </a:rPr>
                        <a:t>리소스</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b="1" dirty="0">
                          <a:solidFill>
                            <a:srgbClr val="A78BFA"/>
                          </a:solidFill>
                          <a:latin typeface="Noto Sans KR" pitchFamily="34" charset="0"/>
                          <a:ea typeface="Noto Sans KR" pitchFamily="34" charset="-122"/>
                          <a:cs typeface="Noto Sans KR" pitchFamily="34" charset="-120"/>
                        </a:rPr>
                        <a:t>사양</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b="1" dirty="0">
                          <a:solidFill>
                            <a:srgbClr val="A78BFA"/>
                          </a:solidFill>
                          <a:latin typeface="Noto Sans KR" pitchFamily="34" charset="0"/>
                          <a:ea typeface="Noto Sans KR" pitchFamily="34" charset="-122"/>
                          <a:cs typeface="Noto Sans KR" pitchFamily="34" charset="-120"/>
                        </a:rPr>
                        <a:t>월 예상</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r>
              <a:tr h="502920">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EC2 (ECS 노드)</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t3.small ×2</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~$42</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r>
              <a:tr h="502920">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ElastiCache</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cache.t3.micro</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~$18</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r>
              <a:tr h="502920">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ALB</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 LCU</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~$17+</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r>
              <a:tr h="502920">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S3 / ECR</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정적+이미지</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400" dirty="0">
                          <a:solidFill>
                            <a:srgbClr val="E7E9FF"/>
                          </a:solidFill>
                          <a:latin typeface="Noto Sans KR" pitchFamily="34" charset="0"/>
                          <a:ea typeface="Noto Sans KR" pitchFamily="34" charset="-122"/>
                          <a:cs typeface="Noto Sans KR" pitchFamily="34" charset="-120"/>
                        </a:rPr>
                        <a:t>~$1</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r>
              <a:tr h="502920">
                <a:tc>
                  <a:txBody>
                    <a:bodyPr/>
                    <a:lstStyle/>
                    <a:p>
                      <a:pPr indent="0" marL="0">
                        <a:buNone/>
                      </a:pPr>
                      <a:r>
                        <a:rPr lang="en-US" sz="1400" b="1" dirty="0">
                          <a:solidFill>
                            <a:srgbClr val="E7E9FF"/>
                          </a:solidFill>
                          <a:latin typeface="Noto Sans KR" pitchFamily="34" charset="0"/>
                          <a:ea typeface="Noto Sans KR" pitchFamily="34" charset="-122"/>
                          <a:cs typeface="Noto Sans KR" pitchFamily="34" charset="-120"/>
                        </a:rPr>
                        <a:t>합계 (EKS였다면 +$73)</a:t>
                      </a: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endParaRPr lang="en-US" sz="14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c>
                  <a:txBody>
                    <a:bodyPr/>
                    <a:lstStyle/>
                    <a:p>
                      <a:pPr indent="0" marL="0">
                        <a:buNone/>
                      </a:pPr>
                      <a:r>
                        <a:rPr lang="en-US" sz="1800" b="1" dirty="0">
                          <a:solidFill>
                            <a:srgbClr val="22D3EE"/>
                          </a:solidFill>
                          <a:latin typeface="Noto Sans KR" pitchFamily="34" charset="0"/>
                          <a:ea typeface="Noto Sans KR" pitchFamily="34" charset="-122"/>
                          <a:cs typeface="Noto Sans KR" pitchFamily="34" charset="-120"/>
                        </a:rPr>
                        <a:t>~$78</a:t>
                      </a:r>
                      <a:endParaRPr lang="en-US" sz="1800" dirty="0">
                        <a:latin typeface="Noto Sans KR" charset="0"/>
                        <a:ea typeface="Noto Sans KR" charset="0"/>
                        <a:cs typeface="Noto Sans KR" charset="0"/>
                      </a:endParaRPr>
                    </a:p>
                  </a:txBody>
                  <a:tcPr marL="91440" marR="91440" marT="45720" marB="45720">
                    <a:lnL w="6350" cap="flat" cmpd="sng" algn="ctr">
                      <a:solidFill>
                        <a:srgbClr val="3A3A55"/>
                      </a:solidFill>
                      <a:prstDash val="solid"/>
                      <a:round/>
                      <a:headEnd type="none" w="med" len="med"/>
                      <a:tailEnd type="none" w="med" len="med"/>
                    </a:lnL>
                    <a:lnR w="6350" cap="flat" cmpd="sng" algn="ctr">
                      <a:solidFill>
                        <a:srgbClr val="3A3A55"/>
                      </a:solidFill>
                      <a:prstDash val="solid"/>
                      <a:round/>
                      <a:headEnd type="none" w="med" len="med"/>
                      <a:tailEnd type="none" w="med" len="med"/>
                    </a:lnR>
                    <a:lnT w="6350" cap="flat" cmpd="sng" algn="ctr">
                      <a:solidFill>
                        <a:srgbClr val="3A3A55"/>
                      </a:solidFill>
                      <a:prstDash val="solid"/>
                      <a:round/>
                      <a:headEnd type="none" w="med" len="med"/>
                      <a:tailEnd type="none" w="med" len="med"/>
                    </a:lnT>
                    <a:lnB w="6350" cap="flat" cmpd="sng" algn="ctr">
                      <a:solidFill>
                        <a:srgbClr val="3A3A55"/>
                      </a:solidFill>
                      <a:prstDash val="solid"/>
                      <a:round/>
                      <a:headEnd type="none" w="med" len="med"/>
                      <a:tailEnd type="none" w="med" len="med"/>
                    </a:lnB>
                    <a:solidFill>
                      <a:srgbClr val="111120"/>
                    </a:solidFill>
                  </a:tcPr>
                </a:tc>
              </a:tr>
            </a:tbl>
          </a:graphicData>
        </a:graphic>
      </p:graphicFrame>
      <p:sp>
        <p:nvSpPr>
          <p:cNvPr id="6" name="Text 2"/>
          <p:cNvSpPr/>
          <p:nvPr/>
        </p:nvSpPr>
        <p:spPr>
          <a:xfrm>
            <a:off x="6400800" y="1737360"/>
            <a:ext cx="5212080" cy="4572000"/>
          </a:xfrm>
          <a:prstGeom prst="rect">
            <a:avLst/>
          </a:prstGeom>
          <a:noFill/>
          <a:ln/>
        </p:spPr>
        <p:txBody>
          <a:bodyPr wrap="square" rtlCol="0" anchor="t"/>
          <a:lstStyle/>
          <a:p>
            <a:pPr indent="0" marL="0">
              <a:lnSpc>
                <a:spcPct val="145000"/>
              </a:lnSpc>
              <a:buNone/>
            </a:pPr>
            <a:r>
              <a:rPr lang="en-US" sz="12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550" b="1" dirty="0">
                <a:solidFill>
                  <a:srgbClr val="E7E9FF"/>
                </a:solidFill>
                <a:latin typeface="Noto Sans KR" pitchFamily="34" charset="0"/>
                <a:ea typeface="Noto Sans KR" pitchFamily="34" charset="-122"/>
                <a:cs typeface="Noto Sans KR" pitchFamily="34" charset="-120"/>
              </a:rPr>
              <a:t>Stateless + 외부 상태 저장소가 수평 확장의 열쇠</a:t>
            </a:r>
            <a:pPr indent="0" marL="0">
              <a:lnSpc>
                <a:spcPct val="145000"/>
              </a:lnSpc>
              <a:buNone/>
            </a:pPr>
            <a:r>
              <a:rPr lang="en-US" sz="125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2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550" b="1" dirty="0">
                <a:solidFill>
                  <a:srgbClr val="E7E9FF"/>
                </a:solidFill>
                <a:latin typeface="Noto Sans KR" pitchFamily="34" charset="0"/>
                <a:ea typeface="Noto Sans KR" pitchFamily="34" charset="-122"/>
                <a:cs typeface="Noto Sans KR" pitchFamily="34" charset="-120"/>
              </a:rPr>
              <a:t>관리형 서비스 통합이 직접 조립보다 운영 부담↓</a:t>
            </a:r>
            <a:pPr indent="0" marL="0">
              <a:lnSpc>
                <a:spcPct val="145000"/>
              </a:lnSpc>
              <a:buNone/>
            </a:pPr>
            <a:r>
              <a:rPr lang="en-US" sz="125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2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550" b="1" dirty="0">
                <a:solidFill>
                  <a:srgbClr val="E7E9FF"/>
                </a:solidFill>
                <a:latin typeface="Noto Sans KR" pitchFamily="34" charset="0"/>
                <a:ea typeface="Noto Sans KR" pitchFamily="34" charset="-122"/>
                <a:cs typeface="Noto Sans KR" pitchFamily="34" charset="-120"/>
              </a:rPr>
              <a:t>최소 권한은 불편하지만 실패 메시지가 곧 문서</a:t>
            </a:r>
            <a:pPr indent="0" marL="0">
              <a:lnSpc>
                <a:spcPct val="145000"/>
              </a:lnSpc>
              <a:buNone/>
            </a:pPr>
            <a:r>
              <a:rPr lang="en-US" sz="1250" dirty="0">
                <a:solidFill>
                  <a:srgbClr val="000000"/>
                </a:solidFill>
                <a:latin typeface="Noto Sans KR" pitchFamily="34" charset="0"/>
                <a:ea typeface="Noto Sans KR" pitchFamily="34" charset="-122"/>
                <a:cs typeface="Noto Sans KR" pitchFamily="34" charset="-120"/>
              </a:rPr>
              <a:t>
</a:t>
            </a:r>
            <a:pPr indent="0" marL="0">
              <a:lnSpc>
                <a:spcPct val="145000"/>
              </a:lnSpc>
              <a:buNone/>
            </a:pPr>
            <a:r>
              <a:rPr lang="en-US" sz="1250" dirty="0">
                <a:solidFill>
                  <a:srgbClr val="22D3EE"/>
                </a:solidFill>
                <a:latin typeface="Noto Sans KR" pitchFamily="34" charset="0"/>
                <a:ea typeface="Noto Sans KR" pitchFamily="34" charset="-122"/>
                <a:cs typeface="Noto Sans KR" pitchFamily="34" charset="-120"/>
              </a:rPr>
              <a:t>◆ </a:t>
            </a:r>
            <a:pPr indent="0" marL="0">
              <a:lnSpc>
                <a:spcPct val="145000"/>
              </a:lnSpc>
              <a:buNone/>
            </a:pPr>
            <a:r>
              <a:rPr lang="en-US" sz="1550" b="1" dirty="0">
                <a:solidFill>
                  <a:srgbClr val="E7E9FF"/>
                </a:solidFill>
                <a:latin typeface="Noto Sans KR" pitchFamily="34" charset="0"/>
                <a:ea typeface="Noto Sans KR" pitchFamily="34" charset="-122"/>
                <a:cs typeface="Noto Sans KR" pitchFamily="34" charset="-120"/>
              </a:rPr>
              <a:t>안 쓸 때 끄기(ASG 0) — 클라우드 비용은 습관</a:t>
            </a:r>
            <a:pPr indent="0" marL="0">
              <a:lnSpc>
                <a:spcPct val="145000"/>
              </a:lnSpc>
              <a:buNone/>
            </a:pPr>
            <a:r>
              <a:rPr lang="en-US" sz="1250" dirty="0">
                <a:solidFill>
                  <a:srgbClr val="000000"/>
                </a:solidFill>
                <a:latin typeface="Noto Sans KR" pitchFamily="34" charset="0"/>
                <a:ea typeface="Noto Sans KR" pitchFamily="34" charset="-122"/>
                <a:cs typeface="Noto Sans KR" pitchFamily="34" charset="-120"/>
              </a:rPr>
              <a:t>
</a:t>
            </a:r>
            <a:endParaRPr lang="en-US" sz="1250" dirty="0"/>
          </a:p>
        </p:txBody>
      </p:sp>
      <p:sp>
        <p:nvSpPr>
          <p:cNvPr id="7" name="Text 3"/>
          <p:cNvSpPr/>
          <p:nvPr/>
        </p:nvSpPr>
        <p:spPr>
          <a:xfrm>
            <a:off x="6400800" y="5120640"/>
            <a:ext cx="5212080" cy="548640"/>
          </a:xfrm>
          <a:prstGeom prst="rect">
            <a:avLst/>
          </a:prstGeom>
          <a:noFill/>
          <a:ln/>
        </p:spPr>
        <p:txBody>
          <a:bodyPr wrap="square" rtlCol="0" anchor="ctr"/>
          <a:lstStyle/>
          <a:p>
            <a:pPr indent="0" marL="0">
              <a:buNone/>
            </a:pPr>
            <a:r>
              <a:rPr lang="en-US" sz="2400" b="1" dirty="0">
                <a:solidFill>
                  <a:srgbClr val="E7E9FF"/>
                </a:solidFill>
                <a:latin typeface="Noto Sans KR" pitchFamily="34" charset="0"/>
                <a:ea typeface="Noto Sans KR" pitchFamily="34" charset="-122"/>
                <a:cs typeface="Noto Sans KR" pitchFamily="34" charset="-120"/>
              </a:rPr>
              <a:t>감사합니다 🃏</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2026-06-12T20:05:10Z</dcterms:created>
  <dcterms:modified xsi:type="dcterms:W3CDTF">2026-06-12T20:05:10Z</dcterms:modified>
</cp:coreProperties>
</file>